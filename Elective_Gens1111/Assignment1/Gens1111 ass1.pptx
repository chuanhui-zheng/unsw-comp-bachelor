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9" r:id="rId2"/>
    <p:sldId id="292" r:id="rId3"/>
    <p:sldId id="262" r:id="rId4"/>
    <p:sldId id="283" r:id="rId5"/>
    <p:sldId id="273" r:id="rId6"/>
    <p:sldId id="286" r:id="rId7"/>
    <p:sldId id="274" r:id="rId8"/>
    <p:sldId id="264" r:id="rId9"/>
    <p:sldId id="284" r:id="rId10"/>
    <p:sldId id="282" r:id="rId11"/>
    <p:sldId id="275" r:id="rId12"/>
    <p:sldId id="265" r:id="rId13"/>
    <p:sldId id="285" r:id="rId14"/>
    <p:sldId id="276" r:id="rId15"/>
    <p:sldId id="287" r:id="rId16"/>
    <p:sldId id="288" r:id="rId17"/>
    <p:sldId id="289" r:id="rId18"/>
    <p:sldId id="290" r:id="rId19"/>
    <p:sldId id="291" r:id="rId20"/>
    <p:sldId id="277" r:id="rId21"/>
    <p:sldId id="271" r:id="rId22"/>
    <p:sldId id="278" r:id="rId23"/>
    <p:sldId id="279" r:id="rId24"/>
    <p:sldId id="280" r:id="rId25"/>
    <p:sldId id="29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3"/>
    <p:restoredTop sz="94648"/>
  </p:normalViewPr>
  <p:slideViewPr>
    <p:cSldViewPr snapToGrid="0">
      <p:cViewPr>
        <p:scale>
          <a:sx n="95" d="100"/>
          <a:sy n="95" d="100"/>
        </p:scale>
        <p:origin x="480" y="6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985867D-1BFB-4497-BA32-32C33C69DD0C}"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n-US"/>
        </a:p>
      </dgm:t>
    </dgm:pt>
    <dgm:pt modelId="{9043F880-9B1D-C44D-A9AE-FB0FA5867EA8}">
      <dgm:prSet/>
      <dgm:spPr/>
      <dgm:t>
        <a:bodyPr/>
        <a:lstStyle/>
        <a:p>
          <a:r>
            <a:rPr lang="x-none">
              <a:effectLst/>
              <a:latin typeface="Times New Roman" panose="02020503050405090304" pitchFamily="18" charset="0"/>
              <a:ea typeface="Times New Roman" panose="02020503050405090304" pitchFamily="18" charset="0"/>
            </a:rPr>
            <a:t>Gustafson, A., King, C. and Rey, J.A. (2013) </a:t>
          </a:r>
          <a:r>
            <a:rPr lang="x-none" i="1">
              <a:effectLst/>
              <a:latin typeface="Times New Roman" panose="02020503050405090304" pitchFamily="18" charset="0"/>
              <a:ea typeface="Times New Roman" panose="02020503050405090304" pitchFamily="18" charset="0"/>
            </a:rPr>
            <a:t>Lorcaserin (Belviq): a selective serotonin 5-HT2C agonist in treating obesity</a:t>
          </a:r>
          <a:r>
            <a:rPr lang="x-none">
              <a:effectLst/>
              <a:latin typeface="Times New Roman" panose="02020503050405090304" pitchFamily="18" charset="0"/>
              <a:ea typeface="Times New Roman" panose="02020503050405090304" pitchFamily="18" charset="0"/>
            </a:rPr>
            <a:t>. https://www.ncbi.nlm.nih.gov/pmc/articles/PMC3828930/.</a:t>
          </a:r>
          <a:endParaRPr lang="x-none" dirty="0">
            <a:effectLst/>
            <a:latin typeface="Times New Roman" panose="02020503050405090304" pitchFamily="18" charset="0"/>
            <a:ea typeface="Times New Roman" panose="02020503050405090304" pitchFamily="18" charset="0"/>
          </a:endParaRPr>
        </a:p>
      </dgm:t>
    </dgm:pt>
    <dgm:pt modelId="{C7039FF5-679F-DB40-BB34-6CEC34AA34FE}" type="parTrans" cxnId="{8A33831D-0E2E-1E4D-95CE-B0D045E09700}">
      <dgm:prSet/>
      <dgm:spPr/>
      <dgm:t>
        <a:bodyPr/>
        <a:lstStyle/>
        <a:p>
          <a:endParaRPr lang="en-GB"/>
        </a:p>
      </dgm:t>
    </dgm:pt>
    <dgm:pt modelId="{9996259F-82A2-C649-92FD-24EF7593F2C4}" type="sibTrans" cxnId="{8A33831D-0E2E-1E4D-95CE-B0D045E09700}">
      <dgm:prSet/>
      <dgm:spPr/>
      <dgm:t>
        <a:bodyPr/>
        <a:lstStyle/>
        <a:p>
          <a:endParaRPr lang="en-GB"/>
        </a:p>
      </dgm:t>
    </dgm:pt>
    <dgm:pt modelId="{F192E769-5F5F-CF4B-B4EF-3A1D944141AB}">
      <dgm:prSet/>
      <dgm:spPr/>
      <dgm:t>
        <a:bodyPr/>
        <a:lstStyle/>
        <a:p>
          <a:r>
            <a:rPr lang="x-none">
              <a:effectLst/>
              <a:latin typeface="Times New Roman" panose="02020503050405090304" pitchFamily="18" charset="0"/>
              <a:ea typeface="Calibri" panose="020F0502020204030204" pitchFamily="34" charset="0"/>
              <a:cs typeface="Times New Roman" panose="02020503050405090304" pitchFamily="18" charset="0"/>
            </a:rPr>
            <a:t>Higgins, G.A., Fletcher, P.J. and Shanahan, W.R. (2020) 'Lorcaserin: A review of its preclinical and clinical pharmacology and therapeutic potential,' </a:t>
          </a:r>
          <a:r>
            <a:rPr lang="x-none" i="1">
              <a:effectLst/>
              <a:latin typeface="Times New Roman" panose="02020503050405090304" pitchFamily="18" charset="0"/>
              <a:ea typeface="Calibri" panose="020F0502020204030204" pitchFamily="34" charset="0"/>
              <a:cs typeface="Times New Roman" panose="02020503050405090304" pitchFamily="18" charset="0"/>
            </a:rPr>
            <a:t>Pharmacology &amp; Therapeutics</a:t>
          </a:r>
          <a:r>
            <a:rPr lang="x-none">
              <a:effectLst/>
              <a:latin typeface="Times New Roman" panose="02020503050405090304" pitchFamily="18" charset="0"/>
              <a:ea typeface="Calibri" panose="020F0502020204030204" pitchFamily="34" charset="0"/>
              <a:cs typeface="Times New Roman" panose="02020503050405090304" pitchFamily="18" charset="0"/>
            </a:rPr>
            <a:t>, 205, p. 107417. https://doi.org/10.1016/j.pharmthera.2019.107417.</a:t>
          </a:r>
          <a:endParaRPr lang="x-none" dirty="0">
            <a:effectLst/>
            <a:latin typeface="Times New Roman" panose="02020503050405090304" pitchFamily="18" charset="0"/>
            <a:ea typeface="Calibri" panose="020F0502020204030204" pitchFamily="34" charset="0"/>
            <a:cs typeface="Times New Roman" panose="02020503050405090304" pitchFamily="18" charset="0"/>
          </a:endParaRPr>
        </a:p>
      </dgm:t>
    </dgm:pt>
    <dgm:pt modelId="{817B620E-2C13-EE4E-A011-8E07B5720E3F}" type="parTrans" cxnId="{CE1CA65E-6772-5C4A-AC22-1F758A0BD7ED}">
      <dgm:prSet/>
      <dgm:spPr/>
      <dgm:t>
        <a:bodyPr/>
        <a:lstStyle/>
        <a:p>
          <a:endParaRPr lang="en-GB"/>
        </a:p>
      </dgm:t>
    </dgm:pt>
    <dgm:pt modelId="{E374C8CF-C7C3-1947-A1ED-BEABCA208B63}" type="sibTrans" cxnId="{CE1CA65E-6772-5C4A-AC22-1F758A0BD7ED}">
      <dgm:prSet/>
      <dgm:spPr/>
      <dgm:t>
        <a:bodyPr/>
        <a:lstStyle/>
        <a:p>
          <a:endParaRPr lang="en-GB"/>
        </a:p>
      </dgm:t>
    </dgm:pt>
    <dgm:pt modelId="{8E2D03FE-5743-F04F-BD2C-A182F61CD01E}">
      <dgm:prSet/>
      <dgm:spPr/>
      <dgm:t>
        <a:bodyPr/>
        <a:lstStyle/>
        <a:p>
          <a:r>
            <a:rPr lang="x-none">
              <a:effectLst/>
              <a:latin typeface="Times New Roman" panose="02020503050405090304" pitchFamily="18" charset="0"/>
              <a:ea typeface="Calibri" panose="020F0502020204030204" pitchFamily="34" charset="0"/>
              <a:cs typeface="Times New Roman" panose="02020503050405090304" pitchFamily="18" charset="0"/>
            </a:rPr>
            <a:t>Kim, B.-Y. </a:t>
          </a:r>
          <a:r>
            <a:rPr lang="x-none" i="1">
              <a:effectLst/>
              <a:latin typeface="Times New Roman" panose="02020503050405090304" pitchFamily="18" charset="0"/>
              <a:ea typeface="Calibri" panose="020F0502020204030204" pitchFamily="34" charset="0"/>
              <a:cs typeface="Times New Roman" panose="02020503050405090304" pitchFamily="18" charset="0"/>
            </a:rPr>
            <a:t>et al.</a:t>
          </a:r>
          <a:r>
            <a:rPr lang="x-none">
              <a:effectLst/>
              <a:latin typeface="Times New Roman" panose="02020503050405090304" pitchFamily="18" charset="0"/>
              <a:ea typeface="Calibri" panose="020F0502020204030204" pitchFamily="34" charset="0"/>
              <a:cs typeface="Times New Roman" panose="02020503050405090304" pitchFamily="18" charset="0"/>
            </a:rPr>
            <a:t> (2020) 'Current Long-Term Pharmacotherapies for the Management of Obesity,' </a:t>
          </a:r>
          <a:r>
            <a:rPr lang="x-none" i="1">
              <a:effectLst/>
              <a:latin typeface="Times New Roman" panose="02020503050405090304" pitchFamily="18" charset="0"/>
              <a:ea typeface="Calibri" panose="020F0502020204030204" pitchFamily="34" charset="0"/>
              <a:cs typeface="Times New Roman" panose="02020503050405090304" pitchFamily="18" charset="0"/>
            </a:rPr>
            <a:t>Journal of Obesity &amp; Metabolic Syndrome</a:t>
          </a:r>
          <a:r>
            <a:rPr lang="x-none">
              <a:effectLst/>
              <a:latin typeface="Times New Roman" panose="02020503050405090304" pitchFamily="18" charset="0"/>
              <a:ea typeface="Calibri" panose="020F0502020204030204" pitchFamily="34" charset="0"/>
              <a:cs typeface="Times New Roman" panose="02020503050405090304" pitchFamily="18" charset="0"/>
            </a:rPr>
            <a:t>, 29(2), pp. 99–109. https://doi.org/10.7570/jomes20010.</a:t>
          </a:r>
          <a:endParaRPr lang="x-none" dirty="0">
            <a:effectLst/>
            <a:latin typeface="Times New Roman" panose="02020503050405090304" pitchFamily="18" charset="0"/>
            <a:ea typeface="Calibri" panose="020F0502020204030204" pitchFamily="34" charset="0"/>
            <a:cs typeface="Times New Roman" panose="02020503050405090304" pitchFamily="18" charset="0"/>
          </a:endParaRPr>
        </a:p>
      </dgm:t>
    </dgm:pt>
    <dgm:pt modelId="{9D7071B8-C8C2-C348-8926-A869E63473D3}" type="parTrans" cxnId="{39AEDD10-002C-B447-B3B6-D31B0A3AE977}">
      <dgm:prSet/>
      <dgm:spPr/>
      <dgm:t>
        <a:bodyPr/>
        <a:lstStyle/>
        <a:p>
          <a:endParaRPr lang="en-GB"/>
        </a:p>
      </dgm:t>
    </dgm:pt>
    <dgm:pt modelId="{D494E003-500B-6C4C-91DD-226DC0346D64}" type="sibTrans" cxnId="{39AEDD10-002C-B447-B3B6-D31B0A3AE977}">
      <dgm:prSet/>
      <dgm:spPr/>
      <dgm:t>
        <a:bodyPr/>
        <a:lstStyle/>
        <a:p>
          <a:endParaRPr lang="en-GB"/>
        </a:p>
      </dgm:t>
    </dgm:pt>
    <dgm:pt modelId="{DC0553B9-04FC-1140-AB58-7D67AB5ABD20}">
      <dgm:prSet/>
      <dgm:spPr/>
      <dgm:t>
        <a:bodyPr/>
        <a:lstStyle/>
        <a:p>
          <a:r>
            <a:rPr lang="x-none">
              <a:effectLst/>
              <a:latin typeface="Times New Roman" panose="02020503050405090304" pitchFamily="18" charset="0"/>
              <a:ea typeface="Calibri" panose="020F0502020204030204" pitchFamily="34" charset="0"/>
              <a:cs typeface="Times New Roman" panose="02020503050405090304" pitchFamily="18" charset="0"/>
            </a:rPr>
            <a:t>Kuo, H. </a:t>
          </a:r>
          <a:r>
            <a:rPr lang="x-none" i="1">
              <a:effectLst/>
              <a:latin typeface="Times New Roman" panose="02020503050405090304" pitchFamily="18" charset="0"/>
              <a:ea typeface="Calibri" panose="020F0502020204030204" pitchFamily="34" charset="0"/>
              <a:cs typeface="Times New Roman" panose="02020503050405090304" pitchFamily="18" charset="0"/>
            </a:rPr>
            <a:t>et al.</a:t>
          </a:r>
          <a:r>
            <a:rPr lang="x-none">
              <a:effectLst/>
              <a:latin typeface="Times New Roman" panose="02020503050405090304" pitchFamily="18" charset="0"/>
              <a:ea typeface="Calibri" panose="020F0502020204030204" pitchFamily="34" charset="0"/>
              <a:cs typeface="Times New Roman" panose="02020503050405090304" pitchFamily="18" charset="0"/>
            </a:rPr>
            <a:t> (2019) 'Effects of lorcaserin on cardiometabolic risk factors in overweight and obese patients: A systematic review and meta‐analysis,' </a:t>
          </a:r>
          <a:r>
            <a:rPr lang="x-none" i="1">
              <a:effectLst/>
              <a:latin typeface="Times New Roman" panose="02020503050405090304" pitchFamily="18" charset="0"/>
              <a:ea typeface="Calibri" panose="020F0502020204030204" pitchFamily="34" charset="0"/>
              <a:cs typeface="Times New Roman" panose="02020503050405090304" pitchFamily="18" charset="0"/>
            </a:rPr>
            <a:t>Journal of Clinical Pharmacy and Therapeutics</a:t>
          </a:r>
          <a:r>
            <a:rPr lang="x-none">
              <a:effectLst/>
              <a:latin typeface="Times New Roman" panose="02020503050405090304" pitchFamily="18" charset="0"/>
              <a:ea typeface="Calibri" panose="020F0502020204030204" pitchFamily="34" charset="0"/>
              <a:cs typeface="Times New Roman" panose="02020503050405090304" pitchFamily="18" charset="0"/>
            </a:rPr>
            <a:t>, 45(1), pp. 35–44. </a:t>
          </a:r>
          <a:r>
            <a:rPr lang="en-US">
              <a:latin typeface="Times New Roman" panose="02020503050405090304" pitchFamily="18" charset="0"/>
              <a:ea typeface="Calibri" panose="020F0502020204030204" pitchFamily="34" charset="0"/>
              <a:cs typeface="Times New Roman" panose="02020503050405090304" pitchFamily="18" charset="0"/>
            </a:rPr>
            <a:t>https://doi.org/10.1111/jcpt.13047</a:t>
          </a:r>
          <a:r>
            <a:rPr lang="x-none">
              <a:effectLst/>
              <a:latin typeface="Times New Roman" panose="02020503050405090304" pitchFamily="18" charset="0"/>
              <a:ea typeface="Calibri" panose="020F0502020204030204" pitchFamily="34" charset="0"/>
              <a:cs typeface="Times New Roman" panose="02020503050405090304" pitchFamily="18" charset="0"/>
            </a:rPr>
            <a:t>.</a:t>
          </a:r>
          <a:endParaRPr lang="x-none" dirty="0">
            <a:effectLst/>
            <a:latin typeface="Times New Roman" panose="02020503050405090304" pitchFamily="18" charset="0"/>
            <a:ea typeface="Calibri" panose="020F0502020204030204" pitchFamily="34" charset="0"/>
            <a:cs typeface="Times New Roman" panose="02020503050405090304" pitchFamily="18" charset="0"/>
          </a:endParaRPr>
        </a:p>
      </dgm:t>
    </dgm:pt>
    <dgm:pt modelId="{438875A0-0798-C344-802F-D7F4A4CE2932}" type="parTrans" cxnId="{F33E934D-9217-D844-9F0C-A27768CE59FE}">
      <dgm:prSet/>
      <dgm:spPr/>
      <dgm:t>
        <a:bodyPr/>
        <a:lstStyle/>
        <a:p>
          <a:endParaRPr lang="en-GB"/>
        </a:p>
      </dgm:t>
    </dgm:pt>
    <dgm:pt modelId="{9394B74C-BB18-7846-A3BF-16AAA3366605}" type="sibTrans" cxnId="{F33E934D-9217-D844-9F0C-A27768CE59FE}">
      <dgm:prSet/>
      <dgm:spPr/>
      <dgm:t>
        <a:bodyPr/>
        <a:lstStyle/>
        <a:p>
          <a:endParaRPr lang="en-GB"/>
        </a:p>
      </dgm:t>
    </dgm:pt>
    <dgm:pt modelId="{BF87E689-F961-4C40-AFCB-56E7B5736BFC}" type="pres">
      <dgm:prSet presAssocID="{1985867D-1BFB-4497-BA32-32C33C69DD0C}" presName="vert0" presStyleCnt="0">
        <dgm:presLayoutVars>
          <dgm:dir/>
          <dgm:animOne val="branch"/>
          <dgm:animLvl val="lvl"/>
        </dgm:presLayoutVars>
      </dgm:prSet>
      <dgm:spPr/>
    </dgm:pt>
    <dgm:pt modelId="{6B230EC5-B0FC-104C-ACA4-1209C25EB219}" type="pres">
      <dgm:prSet presAssocID="{9043F880-9B1D-C44D-A9AE-FB0FA5867EA8}" presName="thickLine" presStyleLbl="alignNode1" presStyleIdx="0" presStyleCnt="4"/>
      <dgm:spPr/>
    </dgm:pt>
    <dgm:pt modelId="{C3841185-6229-8A49-A4D8-A2172C9F0C1F}" type="pres">
      <dgm:prSet presAssocID="{9043F880-9B1D-C44D-A9AE-FB0FA5867EA8}" presName="horz1" presStyleCnt="0"/>
      <dgm:spPr/>
    </dgm:pt>
    <dgm:pt modelId="{DA25F2C3-B794-554A-B54D-922B7F831EC3}" type="pres">
      <dgm:prSet presAssocID="{9043F880-9B1D-C44D-A9AE-FB0FA5867EA8}" presName="tx1" presStyleLbl="revTx" presStyleIdx="0" presStyleCnt="4"/>
      <dgm:spPr/>
    </dgm:pt>
    <dgm:pt modelId="{2465A3DC-B9CF-A645-9432-43C0F00E36AB}" type="pres">
      <dgm:prSet presAssocID="{9043F880-9B1D-C44D-A9AE-FB0FA5867EA8}" presName="vert1" presStyleCnt="0"/>
      <dgm:spPr/>
    </dgm:pt>
    <dgm:pt modelId="{38AD81F8-23DC-7F42-B511-7B939EBD92B6}" type="pres">
      <dgm:prSet presAssocID="{F192E769-5F5F-CF4B-B4EF-3A1D944141AB}" presName="thickLine" presStyleLbl="alignNode1" presStyleIdx="1" presStyleCnt="4"/>
      <dgm:spPr/>
    </dgm:pt>
    <dgm:pt modelId="{2724455A-D9F8-1248-8575-0A4176DB138B}" type="pres">
      <dgm:prSet presAssocID="{F192E769-5F5F-CF4B-B4EF-3A1D944141AB}" presName="horz1" presStyleCnt="0"/>
      <dgm:spPr/>
    </dgm:pt>
    <dgm:pt modelId="{B07F1C9B-7E1C-7642-9102-820460217FEF}" type="pres">
      <dgm:prSet presAssocID="{F192E769-5F5F-CF4B-B4EF-3A1D944141AB}" presName="tx1" presStyleLbl="revTx" presStyleIdx="1" presStyleCnt="4"/>
      <dgm:spPr/>
    </dgm:pt>
    <dgm:pt modelId="{F86958C9-4500-C241-93DD-E6CA853190BC}" type="pres">
      <dgm:prSet presAssocID="{F192E769-5F5F-CF4B-B4EF-3A1D944141AB}" presName="vert1" presStyleCnt="0"/>
      <dgm:spPr/>
    </dgm:pt>
    <dgm:pt modelId="{97668E09-6D2B-3245-8698-5963D09D4613}" type="pres">
      <dgm:prSet presAssocID="{8E2D03FE-5743-F04F-BD2C-A182F61CD01E}" presName="thickLine" presStyleLbl="alignNode1" presStyleIdx="2" presStyleCnt="4"/>
      <dgm:spPr/>
    </dgm:pt>
    <dgm:pt modelId="{FFF52CEA-1486-6C49-BAF6-5D3028392B5B}" type="pres">
      <dgm:prSet presAssocID="{8E2D03FE-5743-F04F-BD2C-A182F61CD01E}" presName="horz1" presStyleCnt="0"/>
      <dgm:spPr/>
    </dgm:pt>
    <dgm:pt modelId="{CA33BD74-99A1-5546-B6CF-E70918F0257C}" type="pres">
      <dgm:prSet presAssocID="{8E2D03FE-5743-F04F-BD2C-A182F61CD01E}" presName="tx1" presStyleLbl="revTx" presStyleIdx="2" presStyleCnt="4"/>
      <dgm:spPr/>
    </dgm:pt>
    <dgm:pt modelId="{7830436F-92C3-0E44-B101-D118EC01662B}" type="pres">
      <dgm:prSet presAssocID="{8E2D03FE-5743-F04F-BD2C-A182F61CD01E}" presName="vert1" presStyleCnt="0"/>
      <dgm:spPr/>
    </dgm:pt>
    <dgm:pt modelId="{C2B3F154-0A3B-B94B-AC18-A12494329012}" type="pres">
      <dgm:prSet presAssocID="{DC0553B9-04FC-1140-AB58-7D67AB5ABD20}" presName="thickLine" presStyleLbl="alignNode1" presStyleIdx="3" presStyleCnt="4"/>
      <dgm:spPr/>
    </dgm:pt>
    <dgm:pt modelId="{EA3CC2BC-EC13-F248-958E-884C3E336C96}" type="pres">
      <dgm:prSet presAssocID="{DC0553B9-04FC-1140-AB58-7D67AB5ABD20}" presName="horz1" presStyleCnt="0"/>
      <dgm:spPr/>
    </dgm:pt>
    <dgm:pt modelId="{BF9C19C0-D3C0-C049-AF43-76407F5C475C}" type="pres">
      <dgm:prSet presAssocID="{DC0553B9-04FC-1140-AB58-7D67AB5ABD20}" presName="tx1" presStyleLbl="revTx" presStyleIdx="3" presStyleCnt="4"/>
      <dgm:spPr/>
    </dgm:pt>
    <dgm:pt modelId="{25DD4C03-9D0D-FC47-A843-5D5C904B4BFC}" type="pres">
      <dgm:prSet presAssocID="{DC0553B9-04FC-1140-AB58-7D67AB5ABD20}" presName="vert1" presStyleCnt="0"/>
      <dgm:spPr/>
    </dgm:pt>
  </dgm:ptLst>
  <dgm:cxnLst>
    <dgm:cxn modelId="{39AEDD10-002C-B447-B3B6-D31B0A3AE977}" srcId="{1985867D-1BFB-4497-BA32-32C33C69DD0C}" destId="{8E2D03FE-5743-F04F-BD2C-A182F61CD01E}" srcOrd="2" destOrd="0" parTransId="{9D7071B8-C8C2-C348-8926-A869E63473D3}" sibTransId="{D494E003-500B-6C4C-91DD-226DC0346D64}"/>
    <dgm:cxn modelId="{8A33831D-0E2E-1E4D-95CE-B0D045E09700}" srcId="{1985867D-1BFB-4497-BA32-32C33C69DD0C}" destId="{9043F880-9B1D-C44D-A9AE-FB0FA5867EA8}" srcOrd="0" destOrd="0" parTransId="{C7039FF5-679F-DB40-BB34-6CEC34AA34FE}" sibTransId="{9996259F-82A2-C649-92FD-24EF7593F2C4}"/>
    <dgm:cxn modelId="{8A074F33-3E4C-3A40-8F4B-3BA6F99593B8}" type="presOf" srcId="{1985867D-1BFB-4497-BA32-32C33C69DD0C}" destId="{BF87E689-F961-4C40-AFCB-56E7B5736BFC}" srcOrd="0" destOrd="0" presId="urn:microsoft.com/office/officeart/2008/layout/LinedList"/>
    <dgm:cxn modelId="{E9F1CE39-4054-984F-8EFA-68F9CAE2E56A}" type="presOf" srcId="{8E2D03FE-5743-F04F-BD2C-A182F61CD01E}" destId="{CA33BD74-99A1-5546-B6CF-E70918F0257C}" srcOrd="0" destOrd="0" presId="urn:microsoft.com/office/officeart/2008/layout/LinedList"/>
    <dgm:cxn modelId="{F33E934D-9217-D844-9F0C-A27768CE59FE}" srcId="{1985867D-1BFB-4497-BA32-32C33C69DD0C}" destId="{DC0553B9-04FC-1140-AB58-7D67AB5ABD20}" srcOrd="3" destOrd="0" parTransId="{438875A0-0798-C344-802F-D7F4A4CE2932}" sibTransId="{9394B74C-BB18-7846-A3BF-16AAA3366605}"/>
    <dgm:cxn modelId="{CE1CA65E-6772-5C4A-AC22-1F758A0BD7ED}" srcId="{1985867D-1BFB-4497-BA32-32C33C69DD0C}" destId="{F192E769-5F5F-CF4B-B4EF-3A1D944141AB}" srcOrd="1" destOrd="0" parTransId="{817B620E-2C13-EE4E-A011-8E07B5720E3F}" sibTransId="{E374C8CF-C7C3-1947-A1ED-BEABCA208B63}"/>
    <dgm:cxn modelId="{DEE94081-F43B-FD48-9CC7-54E5CD13C241}" type="presOf" srcId="{9043F880-9B1D-C44D-A9AE-FB0FA5867EA8}" destId="{DA25F2C3-B794-554A-B54D-922B7F831EC3}" srcOrd="0" destOrd="0" presId="urn:microsoft.com/office/officeart/2008/layout/LinedList"/>
    <dgm:cxn modelId="{122AF089-769F-F64E-9845-3005E6C7B887}" type="presOf" srcId="{DC0553B9-04FC-1140-AB58-7D67AB5ABD20}" destId="{BF9C19C0-D3C0-C049-AF43-76407F5C475C}" srcOrd="0" destOrd="0" presId="urn:microsoft.com/office/officeart/2008/layout/LinedList"/>
    <dgm:cxn modelId="{E8691DBB-F03D-6941-ADD3-6621E18C6366}" type="presOf" srcId="{F192E769-5F5F-CF4B-B4EF-3A1D944141AB}" destId="{B07F1C9B-7E1C-7642-9102-820460217FEF}" srcOrd="0" destOrd="0" presId="urn:microsoft.com/office/officeart/2008/layout/LinedList"/>
    <dgm:cxn modelId="{CDEC9A26-9D74-964D-99C8-6AE7CEC0D2F5}" type="presParOf" srcId="{BF87E689-F961-4C40-AFCB-56E7B5736BFC}" destId="{6B230EC5-B0FC-104C-ACA4-1209C25EB219}" srcOrd="0" destOrd="0" presId="urn:microsoft.com/office/officeart/2008/layout/LinedList"/>
    <dgm:cxn modelId="{5C98F6DD-2115-D24A-B6F8-46660E16D881}" type="presParOf" srcId="{BF87E689-F961-4C40-AFCB-56E7B5736BFC}" destId="{C3841185-6229-8A49-A4D8-A2172C9F0C1F}" srcOrd="1" destOrd="0" presId="urn:microsoft.com/office/officeart/2008/layout/LinedList"/>
    <dgm:cxn modelId="{536CA92C-035D-D240-90B3-767722712DCD}" type="presParOf" srcId="{C3841185-6229-8A49-A4D8-A2172C9F0C1F}" destId="{DA25F2C3-B794-554A-B54D-922B7F831EC3}" srcOrd="0" destOrd="0" presId="urn:microsoft.com/office/officeart/2008/layout/LinedList"/>
    <dgm:cxn modelId="{6C35A29C-CFE0-FC4D-8776-643E7455C5D9}" type="presParOf" srcId="{C3841185-6229-8A49-A4D8-A2172C9F0C1F}" destId="{2465A3DC-B9CF-A645-9432-43C0F00E36AB}" srcOrd="1" destOrd="0" presId="urn:microsoft.com/office/officeart/2008/layout/LinedList"/>
    <dgm:cxn modelId="{505DF421-C823-0944-ACB8-BC80BF4E1FCE}" type="presParOf" srcId="{BF87E689-F961-4C40-AFCB-56E7B5736BFC}" destId="{38AD81F8-23DC-7F42-B511-7B939EBD92B6}" srcOrd="2" destOrd="0" presId="urn:microsoft.com/office/officeart/2008/layout/LinedList"/>
    <dgm:cxn modelId="{2220CC0A-CE9D-7541-B32A-C4DEA3D58156}" type="presParOf" srcId="{BF87E689-F961-4C40-AFCB-56E7B5736BFC}" destId="{2724455A-D9F8-1248-8575-0A4176DB138B}" srcOrd="3" destOrd="0" presId="urn:microsoft.com/office/officeart/2008/layout/LinedList"/>
    <dgm:cxn modelId="{1D8F0054-9585-0147-A837-A3394D1BF07A}" type="presParOf" srcId="{2724455A-D9F8-1248-8575-0A4176DB138B}" destId="{B07F1C9B-7E1C-7642-9102-820460217FEF}" srcOrd="0" destOrd="0" presId="urn:microsoft.com/office/officeart/2008/layout/LinedList"/>
    <dgm:cxn modelId="{98B141BC-4316-4545-8761-FF52F54A0FB9}" type="presParOf" srcId="{2724455A-D9F8-1248-8575-0A4176DB138B}" destId="{F86958C9-4500-C241-93DD-E6CA853190BC}" srcOrd="1" destOrd="0" presId="urn:microsoft.com/office/officeart/2008/layout/LinedList"/>
    <dgm:cxn modelId="{4E6BF9BF-B3A6-4547-9909-413AEF190BCD}" type="presParOf" srcId="{BF87E689-F961-4C40-AFCB-56E7B5736BFC}" destId="{97668E09-6D2B-3245-8698-5963D09D4613}" srcOrd="4" destOrd="0" presId="urn:microsoft.com/office/officeart/2008/layout/LinedList"/>
    <dgm:cxn modelId="{8B20327C-AF76-6E4F-8C10-7B22FD39AD66}" type="presParOf" srcId="{BF87E689-F961-4C40-AFCB-56E7B5736BFC}" destId="{FFF52CEA-1486-6C49-BAF6-5D3028392B5B}" srcOrd="5" destOrd="0" presId="urn:microsoft.com/office/officeart/2008/layout/LinedList"/>
    <dgm:cxn modelId="{7F8CD292-EDAD-F446-9845-EF98B5E8B88F}" type="presParOf" srcId="{FFF52CEA-1486-6C49-BAF6-5D3028392B5B}" destId="{CA33BD74-99A1-5546-B6CF-E70918F0257C}" srcOrd="0" destOrd="0" presId="urn:microsoft.com/office/officeart/2008/layout/LinedList"/>
    <dgm:cxn modelId="{7EC06D5E-43DA-1143-9B02-6A127FA13F45}" type="presParOf" srcId="{FFF52CEA-1486-6C49-BAF6-5D3028392B5B}" destId="{7830436F-92C3-0E44-B101-D118EC01662B}" srcOrd="1" destOrd="0" presId="urn:microsoft.com/office/officeart/2008/layout/LinedList"/>
    <dgm:cxn modelId="{4F6A6576-6AEC-9C4F-AF6D-4B8BD6E6C45C}" type="presParOf" srcId="{BF87E689-F961-4C40-AFCB-56E7B5736BFC}" destId="{C2B3F154-0A3B-B94B-AC18-A12494329012}" srcOrd="6" destOrd="0" presId="urn:microsoft.com/office/officeart/2008/layout/LinedList"/>
    <dgm:cxn modelId="{CED37748-6CE0-2E45-9FAD-21E38ED051D2}" type="presParOf" srcId="{BF87E689-F961-4C40-AFCB-56E7B5736BFC}" destId="{EA3CC2BC-EC13-F248-958E-884C3E336C96}" srcOrd="7" destOrd="0" presId="urn:microsoft.com/office/officeart/2008/layout/LinedList"/>
    <dgm:cxn modelId="{1897A44D-DD8F-E944-950D-FACAAEBC5765}" type="presParOf" srcId="{EA3CC2BC-EC13-F248-958E-884C3E336C96}" destId="{BF9C19C0-D3C0-C049-AF43-76407F5C475C}" srcOrd="0" destOrd="0" presId="urn:microsoft.com/office/officeart/2008/layout/LinedList"/>
    <dgm:cxn modelId="{E6D19D55-DEEC-7D46-9974-D12162C30D1C}" type="presParOf" srcId="{EA3CC2BC-EC13-F248-958E-884C3E336C96}" destId="{25DD4C03-9D0D-FC47-A843-5D5C904B4BFC}"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094F46-66AA-4A15-AD33-3E89BB58B921}"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n-US"/>
        </a:p>
      </dgm:t>
    </dgm:pt>
    <dgm:pt modelId="{023AEADD-8447-4B42-AFFC-3DC0D179213E}">
      <dgm:prSet/>
      <dgm:spPr/>
      <dgm:t>
        <a:bodyPr/>
        <a:lstStyle/>
        <a:p>
          <a:r>
            <a:rPr kumimoji="0" lang="x-none" b="0" i="0" u="none" strike="noStrike"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Mazza, M. </a:t>
          </a:r>
          <a:r>
            <a:rPr kumimoji="0" lang="x-none" b="0" i="1" u="none" strike="noStrike"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et al.</a:t>
          </a:r>
          <a:r>
            <a:rPr kumimoji="0" lang="x-none" b="0" i="0" u="none" strike="noStrike"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 (2024) 'Lorcaserin: Worthy of Further Insights? Results from Recent Research,' </a:t>
          </a:r>
          <a:r>
            <a:rPr kumimoji="0" lang="x-none" b="0" i="1" u="none" strike="noStrike"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CNS &amp; Neurological Disorders. Drug Targets</a:t>
          </a:r>
          <a:r>
            <a:rPr kumimoji="0" lang="x-none" b="0" i="0" u="none" strike="noStrike"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 23(3), pp. 278–283. https://doi.org/10.2174/1871527322666230330124137.</a:t>
          </a:r>
          <a:endParaRPr kumimoji="0" lang="x-none" b="0" i="0" u="none" strike="noStrike" cap="none" spc="0" normalizeH="0" baseline="0" noProof="0" dirty="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endParaRPr>
        </a:p>
      </dgm:t>
    </dgm:pt>
    <dgm:pt modelId="{92EB41D5-213F-7A4B-A784-80D21C8C6FDE}" type="parTrans" cxnId="{559B65FA-54AC-9747-8B07-B832790398D8}">
      <dgm:prSet/>
      <dgm:spPr/>
      <dgm:t>
        <a:bodyPr/>
        <a:lstStyle/>
        <a:p>
          <a:endParaRPr lang="en-GB"/>
        </a:p>
      </dgm:t>
    </dgm:pt>
    <dgm:pt modelId="{9DA63E0E-9762-754E-9309-5E42F764F5B7}" type="sibTrans" cxnId="{559B65FA-54AC-9747-8B07-B832790398D8}">
      <dgm:prSet/>
      <dgm:spPr/>
      <dgm:t>
        <a:bodyPr/>
        <a:lstStyle/>
        <a:p>
          <a:endParaRPr lang="en-GB"/>
        </a:p>
      </dgm:t>
    </dgm:pt>
    <dgm:pt modelId="{03A6F9A7-F81F-174F-8DF1-4DAB71F20572}">
      <dgm:prSet/>
      <dgm:spPr/>
      <dgm:t>
        <a:bodyPr/>
        <a:lstStyle/>
        <a:p>
          <a:r>
            <a:rPr kumimoji="0" lang="x-none" b="0" i="0" u="none" strike="noStrike"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Singh, A.K. and Singh, R. (2020) 'Efficacy and safety of lorcaserin in obesity: a systematic review and meta-analysis of randomized controlled trials,' </a:t>
          </a:r>
          <a:r>
            <a:rPr kumimoji="0" lang="x-none" b="0" i="1" u="none" strike="noStrike"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Expert Review of Clinical Pharmacology</a:t>
          </a:r>
          <a:r>
            <a:rPr kumimoji="0" lang="x-none" b="0" i="0" u="none" strike="noStrike"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 13(2), pp. 183–190. https://doi.org/10.1080/17512433.2020.1703109.</a:t>
          </a:r>
          <a:endParaRPr kumimoji="0" lang="x-none" b="0" i="0" u="none" strike="noStrike" cap="none" spc="0" normalizeH="0" baseline="0" noProof="0" dirty="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endParaRPr>
        </a:p>
      </dgm:t>
    </dgm:pt>
    <dgm:pt modelId="{8E498D73-5CD6-134F-855F-7E0553601E96}" type="parTrans" cxnId="{B58F9EED-426C-0F43-9C99-41AE918634C9}">
      <dgm:prSet/>
      <dgm:spPr/>
      <dgm:t>
        <a:bodyPr/>
        <a:lstStyle/>
        <a:p>
          <a:endParaRPr lang="en-GB"/>
        </a:p>
      </dgm:t>
    </dgm:pt>
    <dgm:pt modelId="{A751AD8E-F4C1-8C4F-A2E4-610097263BAE}" type="sibTrans" cxnId="{B58F9EED-426C-0F43-9C99-41AE918634C9}">
      <dgm:prSet/>
      <dgm:spPr/>
      <dgm:t>
        <a:bodyPr/>
        <a:lstStyle/>
        <a:p>
          <a:endParaRPr lang="en-GB"/>
        </a:p>
      </dgm:t>
    </dgm:pt>
    <dgm:pt modelId="{AE6205F2-E5B6-0545-8726-DFDAFAA88930}">
      <dgm:prSet/>
      <dgm:spPr/>
      <dgm:t>
        <a:bodyPr/>
        <a:lstStyle/>
        <a:p>
          <a:r>
            <a:rPr kumimoji="0" lang="x-none" b="0" i="0" u="none" strike="noStrike"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Tak, Y.J. and Lee, S.Y. (2021) 'Anti-Obesity Drugs: Long-Term Efficacy and Safety: An Updated review,' </a:t>
          </a:r>
          <a:r>
            <a:rPr kumimoji="0" lang="x-none" b="0" i="1" u="none" strike="noStrike"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the World Journal of Men’s Health</a:t>
          </a:r>
          <a:r>
            <a:rPr kumimoji="0" lang="x-none" b="0" i="0" u="none" strike="noStrike"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 39(2), p. 208. https://doi.org/10.5534/wjmh.200010.</a:t>
          </a:r>
          <a:endParaRPr kumimoji="0" lang="x-none" b="0" i="0" u="none" strike="noStrike" cap="none" spc="0" normalizeH="0" baseline="0" noProof="0" dirty="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endParaRPr>
        </a:p>
      </dgm:t>
    </dgm:pt>
    <dgm:pt modelId="{0BF0062F-39F6-0742-9ED7-4F03042DD89C}" type="parTrans" cxnId="{D91B753A-4C38-A54D-99CD-DBE2B1FF07BB}">
      <dgm:prSet/>
      <dgm:spPr/>
      <dgm:t>
        <a:bodyPr/>
        <a:lstStyle/>
        <a:p>
          <a:endParaRPr lang="en-GB"/>
        </a:p>
      </dgm:t>
    </dgm:pt>
    <dgm:pt modelId="{FAA7C75A-64CB-AE45-BB6E-4D87DC3273BD}" type="sibTrans" cxnId="{D91B753A-4C38-A54D-99CD-DBE2B1FF07BB}">
      <dgm:prSet/>
      <dgm:spPr/>
      <dgm:t>
        <a:bodyPr/>
        <a:lstStyle/>
        <a:p>
          <a:endParaRPr lang="en-GB"/>
        </a:p>
      </dgm:t>
    </dgm:pt>
    <dgm:pt modelId="{EAB0E31B-2BE3-7E44-9ABC-53A48A822AB3}">
      <dgm:prSet/>
      <dgm:spPr/>
      <dgm:t>
        <a:bodyPr/>
        <a:lstStyle/>
        <a:p>
          <a:r>
            <a:rPr kumimoji="0" lang="x-none" b="0" i="0" u="none" strike="noStrike"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Tchang, B.G. </a:t>
          </a:r>
          <a:r>
            <a:rPr kumimoji="0" lang="x-none" b="0" i="1" u="none" strike="noStrike"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et al.</a:t>
          </a:r>
          <a:r>
            <a:rPr kumimoji="0" lang="x-none" b="0" i="0" u="none" strike="noStrike"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 (2019) 'An up-to-date evaluation of lorcaserin hydrochloride for the treatment of obesity,' </a:t>
          </a:r>
          <a:r>
            <a:rPr kumimoji="0" lang="x-none" b="0" i="1" u="none" strike="noStrike"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Expert Opinion on Pharmacotherapy</a:t>
          </a:r>
          <a:r>
            <a:rPr kumimoji="0" lang="x-none" b="0" i="0" u="none" strike="noStrike"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 21(1), pp. 21–28. https://doi.org/10.1080/14656566.2019.1685496.</a:t>
          </a:r>
          <a:endParaRPr kumimoji="0" lang="x-none" b="0" i="0" u="none" strike="noStrike" cap="none" spc="0" normalizeH="0" baseline="0" noProof="0" dirty="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endParaRPr>
        </a:p>
      </dgm:t>
    </dgm:pt>
    <dgm:pt modelId="{75CDA3F3-1F2F-A94D-B565-A3689CEFB1E7}" type="parTrans" cxnId="{3B05A51B-5D13-CD4D-AAB8-AE710BC9EFB3}">
      <dgm:prSet/>
      <dgm:spPr/>
      <dgm:t>
        <a:bodyPr/>
        <a:lstStyle/>
        <a:p>
          <a:endParaRPr lang="en-GB"/>
        </a:p>
      </dgm:t>
    </dgm:pt>
    <dgm:pt modelId="{00B0CC77-0607-464C-918D-6AE86188633D}" type="sibTrans" cxnId="{3B05A51B-5D13-CD4D-AAB8-AE710BC9EFB3}">
      <dgm:prSet/>
      <dgm:spPr/>
      <dgm:t>
        <a:bodyPr/>
        <a:lstStyle/>
        <a:p>
          <a:endParaRPr lang="en-GB"/>
        </a:p>
      </dgm:t>
    </dgm:pt>
    <dgm:pt modelId="{8F67609F-3D3E-5B41-B226-A904CB292872}" type="pres">
      <dgm:prSet presAssocID="{2F094F46-66AA-4A15-AD33-3E89BB58B921}" presName="vert0" presStyleCnt="0">
        <dgm:presLayoutVars>
          <dgm:dir/>
          <dgm:animOne val="branch"/>
          <dgm:animLvl val="lvl"/>
        </dgm:presLayoutVars>
      </dgm:prSet>
      <dgm:spPr/>
    </dgm:pt>
    <dgm:pt modelId="{BF7234F3-2DCA-0149-9090-B4F6D6FFD4F1}" type="pres">
      <dgm:prSet presAssocID="{023AEADD-8447-4B42-AFFC-3DC0D179213E}" presName="thickLine" presStyleLbl="alignNode1" presStyleIdx="0" presStyleCnt="4"/>
      <dgm:spPr/>
    </dgm:pt>
    <dgm:pt modelId="{29422BAD-311D-3441-91DC-90D44DD4A799}" type="pres">
      <dgm:prSet presAssocID="{023AEADD-8447-4B42-AFFC-3DC0D179213E}" presName="horz1" presStyleCnt="0"/>
      <dgm:spPr/>
    </dgm:pt>
    <dgm:pt modelId="{3C05EF99-F918-1945-AD49-73E923E52B23}" type="pres">
      <dgm:prSet presAssocID="{023AEADD-8447-4B42-AFFC-3DC0D179213E}" presName="tx1" presStyleLbl="revTx" presStyleIdx="0" presStyleCnt="4"/>
      <dgm:spPr/>
    </dgm:pt>
    <dgm:pt modelId="{E4837EF0-75C6-E144-8FAC-A0B16688E044}" type="pres">
      <dgm:prSet presAssocID="{023AEADD-8447-4B42-AFFC-3DC0D179213E}" presName="vert1" presStyleCnt="0"/>
      <dgm:spPr/>
    </dgm:pt>
    <dgm:pt modelId="{686F038B-B837-AE41-B16C-9DE85DA00C39}" type="pres">
      <dgm:prSet presAssocID="{03A6F9A7-F81F-174F-8DF1-4DAB71F20572}" presName="thickLine" presStyleLbl="alignNode1" presStyleIdx="1" presStyleCnt="4"/>
      <dgm:spPr/>
    </dgm:pt>
    <dgm:pt modelId="{D3C290D4-DBD6-AE4C-A03D-C4A2AB953C99}" type="pres">
      <dgm:prSet presAssocID="{03A6F9A7-F81F-174F-8DF1-4DAB71F20572}" presName="horz1" presStyleCnt="0"/>
      <dgm:spPr/>
    </dgm:pt>
    <dgm:pt modelId="{A2D8C054-025F-8446-9B05-24830C3A40AA}" type="pres">
      <dgm:prSet presAssocID="{03A6F9A7-F81F-174F-8DF1-4DAB71F20572}" presName="tx1" presStyleLbl="revTx" presStyleIdx="1" presStyleCnt="4"/>
      <dgm:spPr/>
    </dgm:pt>
    <dgm:pt modelId="{5ED62CE1-B38D-664F-B9AC-4B974142DF16}" type="pres">
      <dgm:prSet presAssocID="{03A6F9A7-F81F-174F-8DF1-4DAB71F20572}" presName="vert1" presStyleCnt="0"/>
      <dgm:spPr/>
    </dgm:pt>
    <dgm:pt modelId="{7C46192F-F634-2642-999D-80230116A55D}" type="pres">
      <dgm:prSet presAssocID="{AE6205F2-E5B6-0545-8726-DFDAFAA88930}" presName="thickLine" presStyleLbl="alignNode1" presStyleIdx="2" presStyleCnt="4"/>
      <dgm:spPr/>
    </dgm:pt>
    <dgm:pt modelId="{90BD3B37-8004-C54D-B7D7-92ED2A2C9556}" type="pres">
      <dgm:prSet presAssocID="{AE6205F2-E5B6-0545-8726-DFDAFAA88930}" presName="horz1" presStyleCnt="0"/>
      <dgm:spPr/>
    </dgm:pt>
    <dgm:pt modelId="{A73455D5-C3A6-1F47-BCA5-3F01EB298B5B}" type="pres">
      <dgm:prSet presAssocID="{AE6205F2-E5B6-0545-8726-DFDAFAA88930}" presName="tx1" presStyleLbl="revTx" presStyleIdx="2" presStyleCnt="4"/>
      <dgm:spPr/>
    </dgm:pt>
    <dgm:pt modelId="{36A13E38-983F-8047-B7DB-62AF9DF4B0BF}" type="pres">
      <dgm:prSet presAssocID="{AE6205F2-E5B6-0545-8726-DFDAFAA88930}" presName="vert1" presStyleCnt="0"/>
      <dgm:spPr/>
    </dgm:pt>
    <dgm:pt modelId="{6FDAC158-2AD3-3A45-81A2-F48766779B45}" type="pres">
      <dgm:prSet presAssocID="{EAB0E31B-2BE3-7E44-9ABC-53A48A822AB3}" presName="thickLine" presStyleLbl="alignNode1" presStyleIdx="3" presStyleCnt="4"/>
      <dgm:spPr/>
    </dgm:pt>
    <dgm:pt modelId="{C9C127CA-91ED-CC47-B4F9-1CEB59E83D1D}" type="pres">
      <dgm:prSet presAssocID="{EAB0E31B-2BE3-7E44-9ABC-53A48A822AB3}" presName="horz1" presStyleCnt="0"/>
      <dgm:spPr/>
    </dgm:pt>
    <dgm:pt modelId="{E743FFA8-9063-EC42-9B99-EFD039DDB605}" type="pres">
      <dgm:prSet presAssocID="{EAB0E31B-2BE3-7E44-9ABC-53A48A822AB3}" presName="tx1" presStyleLbl="revTx" presStyleIdx="3" presStyleCnt="4"/>
      <dgm:spPr/>
    </dgm:pt>
    <dgm:pt modelId="{41A3F162-CC40-CA47-A64F-03754EB12499}" type="pres">
      <dgm:prSet presAssocID="{EAB0E31B-2BE3-7E44-9ABC-53A48A822AB3}" presName="vert1" presStyleCnt="0"/>
      <dgm:spPr/>
    </dgm:pt>
  </dgm:ptLst>
  <dgm:cxnLst>
    <dgm:cxn modelId="{3B05A51B-5D13-CD4D-AAB8-AE710BC9EFB3}" srcId="{2F094F46-66AA-4A15-AD33-3E89BB58B921}" destId="{EAB0E31B-2BE3-7E44-9ABC-53A48A822AB3}" srcOrd="3" destOrd="0" parTransId="{75CDA3F3-1F2F-A94D-B565-A3689CEFB1E7}" sibTransId="{00B0CC77-0607-464C-918D-6AE86188633D}"/>
    <dgm:cxn modelId="{D91B753A-4C38-A54D-99CD-DBE2B1FF07BB}" srcId="{2F094F46-66AA-4A15-AD33-3E89BB58B921}" destId="{AE6205F2-E5B6-0545-8726-DFDAFAA88930}" srcOrd="2" destOrd="0" parTransId="{0BF0062F-39F6-0742-9ED7-4F03042DD89C}" sibTransId="{FAA7C75A-64CB-AE45-BB6E-4D87DC3273BD}"/>
    <dgm:cxn modelId="{F53D0B46-C938-F24C-84E5-C9D95D1D0428}" type="presOf" srcId="{2F094F46-66AA-4A15-AD33-3E89BB58B921}" destId="{8F67609F-3D3E-5B41-B226-A904CB292872}" srcOrd="0" destOrd="0" presId="urn:microsoft.com/office/officeart/2008/layout/LinedList"/>
    <dgm:cxn modelId="{27910D6D-803B-A44C-AA67-C64AD19E4014}" type="presOf" srcId="{023AEADD-8447-4B42-AFFC-3DC0D179213E}" destId="{3C05EF99-F918-1945-AD49-73E923E52B23}" srcOrd="0" destOrd="0" presId="urn:microsoft.com/office/officeart/2008/layout/LinedList"/>
    <dgm:cxn modelId="{3D6DEE6D-5FA1-5844-B1CC-35BF94579830}" type="presOf" srcId="{03A6F9A7-F81F-174F-8DF1-4DAB71F20572}" destId="{A2D8C054-025F-8446-9B05-24830C3A40AA}" srcOrd="0" destOrd="0" presId="urn:microsoft.com/office/officeart/2008/layout/LinedList"/>
    <dgm:cxn modelId="{75FA2678-9DED-D242-BA44-68C99113BABC}" type="presOf" srcId="{AE6205F2-E5B6-0545-8726-DFDAFAA88930}" destId="{A73455D5-C3A6-1F47-BCA5-3F01EB298B5B}" srcOrd="0" destOrd="0" presId="urn:microsoft.com/office/officeart/2008/layout/LinedList"/>
    <dgm:cxn modelId="{ED74E3E8-81D2-8D45-9E43-0C7803181607}" type="presOf" srcId="{EAB0E31B-2BE3-7E44-9ABC-53A48A822AB3}" destId="{E743FFA8-9063-EC42-9B99-EFD039DDB605}" srcOrd="0" destOrd="0" presId="urn:microsoft.com/office/officeart/2008/layout/LinedList"/>
    <dgm:cxn modelId="{B58F9EED-426C-0F43-9C99-41AE918634C9}" srcId="{2F094F46-66AA-4A15-AD33-3E89BB58B921}" destId="{03A6F9A7-F81F-174F-8DF1-4DAB71F20572}" srcOrd="1" destOrd="0" parTransId="{8E498D73-5CD6-134F-855F-7E0553601E96}" sibTransId="{A751AD8E-F4C1-8C4F-A2E4-610097263BAE}"/>
    <dgm:cxn modelId="{559B65FA-54AC-9747-8B07-B832790398D8}" srcId="{2F094F46-66AA-4A15-AD33-3E89BB58B921}" destId="{023AEADD-8447-4B42-AFFC-3DC0D179213E}" srcOrd="0" destOrd="0" parTransId="{92EB41D5-213F-7A4B-A784-80D21C8C6FDE}" sibTransId="{9DA63E0E-9762-754E-9309-5E42F764F5B7}"/>
    <dgm:cxn modelId="{A8E1BD93-3646-6B47-9E3D-177C7F052FB4}" type="presParOf" srcId="{8F67609F-3D3E-5B41-B226-A904CB292872}" destId="{BF7234F3-2DCA-0149-9090-B4F6D6FFD4F1}" srcOrd="0" destOrd="0" presId="urn:microsoft.com/office/officeart/2008/layout/LinedList"/>
    <dgm:cxn modelId="{0DAD60DA-7FB1-E245-988D-28B4AF508607}" type="presParOf" srcId="{8F67609F-3D3E-5B41-B226-A904CB292872}" destId="{29422BAD-311D-3441-91DC-90D44DD4A799}" srcOrd="1" destOrd="0" presId="urn:microsoft.com/office/officeart/2008/layout/LinedList"/>
    <dgm:cxn modelId="{1A1B9FFF-EC39-E149-96F3-B1D782AF4A2D}" type="presParOf" srcId="{29422BAD-311D-3441-91DC-90D44DD4A799}" destId="{3C05EF99-F918-1945-AD49-73E923E52B23}" srcOrd="0" destOrd="0" presId="urn:microsoft.com/office/officeart/2008/layout/LinedList"/>
    <dgm:cxn modelId="{4A36E79E-148C-3B4D-B7D8-569F2BFDEC03}" type="presParOf" srcId="{29422BAD-311D-3441-91DC-90D44DD4A799}" destId="{E4837EF0-75C6-E144-8FAC-A0B16688E044}" srcOrd="1" destOrd="0" presId="urn:microsoft.com/office/officeart/2008/layout/LinedList"/>
    <dgm:cxn modelId="{963E50C1-6D86-174D-AEB0-6F8B7D9B4414}" type="presParOf" srcId="{8F67609F-3D3E-5B41-B226-A904CB292872}" destId="{686F038B-B837-AE41-B16C-9DE85DA00C39}" srcOrd="2" destOrd="0" presId="urn:microsoft.com/office/officeart/2008/layout/LinedList"/>
    <dgm:cxn modelId="{6372071D-03D0-EB42-94C0-DB7C986A4E8F}" type="presParOf" srcId="{8F67609F-3D3E-5B41-B226-A904CB292872}" destId="{D3C290D4-DBD6-AE4C-A03D-C4A2AB953C99}" srcOrd="3" destOrd="0" presId="urn:microsoft.com/office/officeart/2008/layout/LinedList"/>
    <dgm:cxn modelId="{02C453AF-21C8-E84D-A0F8-B1691194892E}" type="presParOf" srcId="{D3C290D4-DBD6-AE4C-A03D-C4A2AB953C99}" destId="{A2D8C054-025F-8446-9B05-24830C3A40AA}" srcOrd="0" destOrd="0" presId="urn:microsoft.com/office/officeart/2008/layout/LinedList"/>
    <dgm:cxn modelId="{30588735-59E8-DC4D-9113-CA8B6CCCF850}" type="presParOf" srcId="{D3C290D4-DBD6-AE4C-A03D-C4A2AB953C99}" destId="{5ED62CE1-B38D-664F-B9AC-4B974142DF16}" srcOrd="1" destOrd="0" presId="urn:microsoft.com/office/officeart/2008/layout/LinedList"/>
    <dgm:cxn modelId="{6102014D-95CA-D549-A948-80D3551BE502}" type="presParOf" srcId="{8F67609F-3D3E-5B41-B226-A904CB292872}" destId="{7C46192F-F634-2642-999D-80230116A55D}" srcOrd="4" destOrd="0" presId="urn:microsoft.com/office/officeart/2008/layout/LinedList"/>
    <dgm:cxn modelId="{605A657A-6B18-6D4C-BA3E-3165F8604A97}" type="presParOf" srcId="{8F67609F-3D3E-5B41-B226-A904CB292872}" destId="{90BD3B37-8004-C54D-B7D7-92ED2A2C9556}" srcOrd="5" destOrd="0" presId="urn:microsoft.com/office/officeart/2008/layout/LinedList"/>
    <dgm:cxn modelId="{0FF94613-82C9-7841-BAAC-506F7E42E742}" type="presParOf" srcId="{90BD3B37-8004-C54D-B7D7-92ED2A2C9556}" destId="{A73455D5-C3A6-1F47-BCA5-3F01EB298B5B}" srcOrd="0" destOrd="0" presId="urn:microsoft.com/office/officeart/2008/layout/LinedList"/>
    <dgm:cxn modelId="{9681BC5E-5BE8-5B40-BBC9-FDCAE2E5C27E}" type="presParOf" srcId="{90BD3B37-8004-C54D-B7D7-92ED2A2C9556}" destId="{36A13E38-983F-8047-B7DB-62AF9DF4B0BF}" srcOrd="1" destOrd="0" presId="urn:microsoft.com/office/officeart/2008/layout/LinedList"/>
    <dgm:cxn modelId="{A0B5C3CE-8AB3-264D-ABB2-A6FD274234C3}" type="presParOf" srcId="{8F67609F-3D3E-5B41-B226-A904CB292872}" destId="{6FDAC158-2AD3-3A45-81A2-F48766779B45}" srcOrd="6" destOrd="0" presId="urn:microsoft.com/office/officeart/2008/layout/LinedList"/>
    <dgm:cxn modelId="{B9225015-92BF-5F48-8376-4996BA04B15B}" type="presParOf" srcId="{8F67609F-3D3E-5B41-B226-A904CB292872}" destId="{C9C127CA-91ED-CC47-B4F9-1CEB59E83D1D}" srcOrd="7" destOrd="0" presId="urn:microsoft.com/office/officeart/2008/layout/LinedList"/>
    <dgm:cxn modelId="{113F4456-CC8E-404B-8B9C-311E7963D04F}" type="presParOf" srcId="{C9C127CA-91ED-CC47-B4F9-1CEB59E83D1D}" destId="{E743FFA8-9063-EC42-9B99-EFD039DDB605}" srcOrd="0" destOrd="0" presId="urn:microsoft.com/office/officeart/2008/layout/LinedList"/>
    <dgm:cxn modelId="{F6249E5F-18CB-7841-96F5-CAEF6E6B11B2}" type="presParOf" srcId="{C9C127CA-91ED-CC47-B4F9-1CEB59E83D1D}" destId="{41A3F162-CC40-CA47-A64F-03754EB1249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885289-153E-4468-8CB9-F1A00D1AD0E6}"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FF39DD26-8F66-4951-AEF4-E3A7C74234E4}">
      <dgm:prSet/>
      <dgm:spPr/>
      <dgm:t>
        <a:bodyPr/>
        <a:lstStyle/>
        <a:p>
          <a:r>
            <a:rPr lang="en-US" b="1" i="0" baseline="0" dirty="0"/>
            <a:t>Why did you decide not to use AI to complete this assessment task?</a:t>
          </a:r>
          <a:r>
            <a:rPr lang="en-US" b="0" i="0" baseline="0" dirty="0"/>
            <a:t> I wanted to challenge myself and enhance my research and critical thinking skills.</a:t>
          </a:r>
          <a:r>
            <a:rPr lang="zh-CN" altLang="en-US" b="0" i="0" baseline="0" dirty="0"/>
            <a:t> </a:t>
          </a:r>
          <a:r>
            <a:rPr lang="en-US" altLang="zh-CN" b="0" i="0" baseline="0" dirty="0"/>
            <a:t>Moreover,</a:t>
          </a:r>
          <a:r>
            <a:rPr lang="zh-CN" altLang="en-US" b="0" i="0" baseline="0" dirty="0"/>
            <a:t> </a:t>
          </a:r>
          <a:r>
            <a:rPr lang="en-US" altLang="zh-CN" b="0" i="0" baseline="0" dirty="0"/>
            <a:t>e</a:t>
          </a:r>
          <a:r>
            <a:rPr lang="en-GB" altLang="en-US" b="0" i="0" baseline="0" dirty="0" err="1"/>
            <a:t>xcessive</a:t>
          </a:r>
          <a:r>
            <a:rPr lang="en-GB" altLang="en-US" b="0" i="0" baseline="0" dirty="0"/>
            <a:t> use of AI may disrupt my original thinking. The greater dependence on AI will lead to a lack of self-created content.</a:t>
          </a:r>
          <a:endParaRPr lang="en-US" dirty="0"/>
        </a:p>
      </dgm:t>
    </dgm:pt>
    <dgm:pt modelId="{F4EA7D78-D32D-4272-9244-51BE6520B362}" type="parTrans" cxnId="{61900729-CE8B-485F-87AB-2C27E6A9D3C7}">
      <dgm:prSet/>
      <dgm:spPr/>
      <dgm:t>
        <a:bodyPr/>
        <a:lstStyle/>
        <a:p>
          <a:endParaRPr lang="en-US"/>
        </a:p>
      </dgm:t>
    </dgm:pt>
    <dgm:pt modelId="{7895932B-C615-4B0B-A4FB-3B1CED51E17E}" type="sibTrans" cxnId="{61900729-CE8B-485F-87AB-2C27E6A9D3C7}">
      <dgm:prSet/>
      <dgm:spPr/>
      <dgm:t>
        <a:bodyPr/>
        <a:lstStyle/>
        <a:p>
          <a:endParaRPr lang="en-US"/>
        </a:p>
      </dgm:t>
    </dgm:pt>
    <dgm:pt modelId="{1C6FED87-FD0D-4018-BFB2-08B6436FC6DB}">
      <dgm:prSet/>
      <dgm:spPr/>
      <dgm:t>
        <a:bodyPr/>
        <a:lstStyle/>
        <a:p>
          <a:r>
            <a:rPr lang="en-US" b="1" i="0" baseline="0" dirty="0"/>
            <a:t>What was your process for researching and completing this assessment task?</a:t>
          </a:r>
          <a:r>
            <a:rPr lang="en-US" b="0" i="0" baseline="0" dirty="0"/>
            <a:t> I used academic databases, peer-reviewed journals, and textbooks to gather relevant information and synthesize the data into my assessment.</a:t>
          </a:r>
          <a:endParaRPr lang="en-US" dirty="0"/>
        </a:p>
      </dgm:t>
    </dgm:pt>
    <dgm:pt modelId="{FC8E4DB5-F85F-4CB6-B752-0FEDB7DC991B}" type="parTrans" cxnId="{4385A569-782A-4C8B-A1BB-0291EECA7D55}">
      <dgm:prSet/>
      <dgm:spPr/>
      <dgm:t>
        <a:bodyPr/>
        <a:lstStyle/>
        <a:p>
          <a:endParaRPr lang="en-US"/>
        </a:p>
      </dgm:t>
    </dgm:pt>
    <dgm:pt modelId="{181B5DFC-49DC-4992-89A7-BED981E0F268}" type="sibTrans" cxnId="{4385A569-782A-4C8B-A1BB-0291EECA7D55}">
      <dgm:prSet/>
      <dgm:spPr/>
      <dgm:t>
        <a:bodyPr/>
        <a:lstStyle/>
        <a:p>
          <a:endParaRPr lang="en-US"/>
        </a:p>
      </dgm:t>
    </dgm:pt>
    <dgm:pt modelId="{5E3CD08D-C7BC-4765-BA1C-CF27230DD158}">
      <dgm:prSet/>
      <dgm:spPr/>
      <dgm:t>
        <a:bodyPr/>
        <a:lstStyle/>
        <a:p>
          <a:r>
            <a:rPr lang="en-US" b="1" i="0" baseline="0"/>
            <a:t>Have you ever used AI to complete assessment tasks? If so, which tools were the most helpful and why?</a:t>
          </a:r>
          <a:r>
            <a:rPr lang="en-US" b="0" i="0" baseline="0"/>
            <a:t> No, I have not yet used AI tools.</a:t>
          </a:r>
          <a:endParaRPr lang="en-US"/>
        </a:p>
      </dgm:t>
    </dgm:pt>
    <dgm:pt modelId="{52EBB314-469A-47AE-8335-29F551F2899F}" type="parTrans" cxnId="{D1E11D58-CDE7-4F9F-BB66-B099E0D946F3}">
      <dgm:prSet/>
      <dgm:spPr/>
      <dgm:t>
        <a:bodyPr/>
        <a:lstStyle/>
        <a:p>
          <a:endParaRPr lang="en-US"/>
        </a:p>
      </dgm:t>
    </dgm:pt>
    <dgm:pt modelId="{D374004A-E5DE-4C3C-80A4-15DDF3384D73}" type="sibTrans" cxnId="{D1E11D58-CDE7-4F9F-BB66-B099E0D946F3}">
      <dgm:prSet/>
      <dgm:spPr/>
      <dgm:t>
        <a:bodyPr/>
        <a:lstStyle/>
        <a:p>
          <a:endParaRPr lang="en-US"/>
        </a:p>
      </dgm:t>
    </dgm:pt>
    <dgm:pt modelId="{EB89898C-0BC8-4AFF-96CD-AA883BFA7642}">
      <dgm:prSet/>
      <dgm:spPr/>
      <dgm:t>
        <a:bodyPr/>
        <a:lstStyle/>
        <a:p>
          <a:r>
            <a:rPr lang="en-US" b="1" i="0" baseline="0" dirty="0"/>
            <a:t>Do you worry that relying on AI tools now might negatively impact your ability to learn independently in the future?</a:t>
          </a:r>
          <a:r>
            <a:rPr lang="en-US" b="0" i="0" baseline="0" dirty="0"/>
            <a:t> Yes, over-reliance on AI tools could potentially diminish my critical thinking and problem-solving skills.</a:t>
          </a:r>
          <a:r>
            <a:rPr lang="zh-CN" altLang="en-US" b="0" i="0" baseline="0" dirty="0"/>
            <a:t> </a:t>
          </a:r>
          <a:r>
            <a:rPr lang="en-US" altLang="zh-CN" b="0" i="0" baseline="0" dirty="0"/>
            <a:t>Playing</a:t>
          </a:r>
          <a:r>
            <a:rPr lang="zh-CN" altLang="en-US" b="0" i="0" baseline="0" dirty="0"/>
            <a:t> </a:t>
          </a:r>
          <a:r>
            <a:rPr lang="en-US" altLang="zh-CN" b="0" i="0" baseline="0" dirty="0"/>
            <a:t>into</a:t>
          </a:r>
          <a:r>
            <a:rPr lang="zh-CN" altLang="en-US" b="0" i="0" baseline="0" dirty="0"/>
            <a:t> </a:t>
          </a:r>
          <a:r>
            <a:rPr lang="en-US" altLang="zh-CN" b="0" i="0" baseline="0" dirty="0"/>
            <a:t>the</a:t>
          </a:r>
          <a:r>
            <a:rPr lang="zh-CN" altLang="en-US" b="0" i="0" baseline="0" dirty="0"/>
            <a:t> </a:t>
          </a:r>
          <a:r>
            <a:rPr lang="en-US" altLang="zh-CN" b="0" i="0" baseline="0" dirty="0"/>
            <a:t>role</a:t>
          </a:r>
          <a:r>
            <a:rPr lang="zh-CN" altLang="en-US" b="0" i="0" baseline="0" dirty="0"/>
            <a:t> </a:t>
          </a:r>
          <a:r>
            <a:rPr lang="en-US" altLang="zh-CN" b="0" i="0" baseline="0" dirty="0"/>
            <a:t>of</a:t>
          </a:r>
          <a:r>
            <a:rPr lang="zh-CN" altLang="en-US" b="0" i="0" baseline="0" dirty="0"/>
            <a:t> </a:t>
          </a:r>
          <a:r>
            <a:rPr lang="en-US" altLang="zh-CN" b="0" i="0" baseline="0" dirty="0"/>
            <a:t>researching</a:t>
          </a:r>
          <a:r>
            <a:rPr lang="zh-CN" altLang="en-US" b="0" i="0" baseline="0" dirty="0"/>
            <a:t> </a:t>
          </a:r>
          <a:r>
            <a:rPr lang="en-US" altLang="zh-CN" b="0" i="0" baseline="0" dirty="0"/>
            <a:t>is</a:t>
          </a:r>
          <a:r>
            <a:rPr lang="zh-CN" altLang="en-US" b="0" i="0" baseline="0" dirty="0"/>
            <a:t> </a:t>
          </a:r>
          <a:r>
            <a:rPr lang="en-US" altLang="zh-CN" b="0" i="0" baseline="0" dirty="0"/>
            <a:t>very</a:t>
          </a:r>
          <a:r>
            <a:rPr lang="zh-CN" altLang="en-US" b="0" i="0" baseline="0" dirty="0"/>
            <a:t> </a:t>
          </a:r>
          <a:r>
            <a:rPr lang="en-US" altLang="zh-CN" b="0" i="0" baseline="0" dirty="0"/>
            <a:t>important.</a:t>
          </a:r>
          <a:endParaRPr lang="en-US" dirty="0"/>
        </a:p>
      </dgm:t>
    </dgm:pt>
    <dgm:pt modelId="{B55D3CB2-2E50-4862-A398-FDAABD53CE10}" type="parTrans" cxnId="{286220F4-25EB-4C1A-97C5-BF71AAC6BAA0}">
      <dgm:prSet/>
      <dgm:spPr/>
      <dgm:t>
        <a:bodyPr/>
        <a:lstStyle/>
        <a:p>
          <a:endParaRPr lang="en-US"/>
        </a:p>
      </dgm:t>
    </dgm:pt>
    <dgm:pt modelId="{DA204390-3957-4C15-9F0A-389884741ED4}" type="sibTrans" cxnId="{286220F4-25EB-4C1A-97C5-BF71AAC6BAA0}">
      <dgm:prSet/>
      <dgm:spPr/>
      <dgm:t>
        <a:bodyPr/>
        <a:lstStyle/>
        <a:p>
          <a:endParaRPr lang="en-US"/>
        </a:p>
      </dgm:t>
    </dgm:pt>
    <dgm:pt modelId="{4D8407C0-7773-214C-95A7-B506CB01A6C0}" type="pres">
      <dgm:prSet presAssocID="{D9885289-153E-4468-8CB9-F1A00D1AD0E6}" presName="linear" presStyleCnt="0">
        <dgm:presLayoutVars>
          <dgm:animLvl val="lvl"/>
          <dgm:resizeHandles val="exact"/>
        </dgm:presLayoutVars>
      </dgm:prSet>
      <dgm:spPr/>
    </dgm:pt>
    <dgm:pt modelId="{57DB5E1A-F4D0-B744-B1DB-315DFF44E0F4}" type="pres">
      <dgm:prSet presAssocID="{FF39DD26-8F66-4951-AEF4-E3A7C74234E4}" presName="parentText" presStyleLbl="node1" presStyleIdx="0" presStyleCnt="4">
        <dgm:presLayoutVars>
          <dgm:chMax val="0"/>
          <dgm:bulletEnabled val="1"/>
        </dgm:presLayoutVars>
      </dgm:prSet>
      <dgm:spPr/>
    </dgm:pt>
    <dgm:pt modelId="{FBD6A1BA-39CC-6944-8AE7-08C7E6E70BEA}" type="pres">
      <dgm:prSet presAssocID="{7895932B-C615-4B0B-A4FB-3B1CED51E17E}" presName="spacer" presStyleCnt="0"/>
      <dgm:spPr/>
    </dgm:pt>
    <dgm:pt modelId="{C650F6C6-3A4A-014F-B3A7-388678FC0688}" type="pres">
      <dgm:prSet presAssocID="{1C6FED87-FD0D-4018-BFB2-08B6436FC6DB}" presName="parentText" presStyleLbl="node1" presStyleIdx="1" presStyleCnt="4">
        <dgm:presLayoutVars>
          <dgm:chMax val="0"/>
          <dgm:bulletEnabled val="1"/>
        </dgm:presLayoutVars>
      </dgm:prSet>
      <dgm:spPr/>
    </dgm:pt>
    <dgm:pt modelId="{F08B1B3E-7C7B-BE4D-AD4F-8D7C57B98442}" type="pres">
      <dgm:prSet presAssocID="{181B5DFC-49DC-4992-89A7-BED981E0F268}" presName="spacer" presStyleCnt="0"/>
      <dgm:spPr/>
    </dgm:pt>
    <dgm:pt modelId="{9189803C-C1EA-3745-BAE7-46FB30B79E2F}" type="pres">
      <dgm:prSet presAssocID="{5E3CD08D-C7BC-4765-BA1C-CF27230DD158}" presName="parentText" presStyleLbl="node1" presStyleIdx="2" presStyleCnt="4">
        <dgm:presLayoutVars>
          <dgm:chMax val="0"/>
          <dgm:bulletEnabled val="1"/>
        </dgm:presLayoutVars>
      </dgm:prSet>
      <dgm:spPr/>
    </dgm:pt>
    <dgm:pt modelId="{F6794A0F-ED06-3743-8037-478C1B1A52A3}" type="pres">
      <dgm:prSet presAssocID="{D374004A-E5DE-4C3C-80A4-15DDF3384D73}" presName="spacer" presStyleCnt="0"/>
      <dgm:spPr/>
    </dgm:pt>
    <dgm:pt modelId="{8679F04C-E747-CC4E-B9FE-A3FC630A8B08}" type="pres">
      <dgm:prSet presAssocID="{EB89898C-0BC8-4AFF-96CD-AA883BFA7642}" presName="parentText" presStyleLbl="node1" presStyleIdx="3" presStyleCnt="4">
        <dgm:presLayoutVars>
          <dgm:chMax val="0"/>
          <dgm:bulletEnabled val="1"/>
        </dgm:presLayoutVars>
      </dgm:prSet>
      <dgm:spPr/>
    </dgm:pt>
  </dgm:ptLst>
  <dgm:cxnLst>
    <dgm:cxn modelId="{58BCB707-1E4C-DB40-B616-8DF7BD89F06E}" type="presOf" srcId="{EB89898C-0BC8-4AFF-96CD-AA883BFA7642}" destId="{8679F04C-E747-CC4E-B9FE-A3FC630A8B08}" srcOrd="0" destOrd="0" presId="urn:microsoft.com/office/officeart/2005/8/layout/vList2"/>
    <dgm:cxn modelId="{61900729-CE8B-485F-87AB-2C27E6A9D3C7}" srcId="{D9885289-153E-4468-8CB9-F1A00D1AD0E6}" destId="{FF39DD26-8F66-4951-AEF4-E3A7C74234E4}" srcOrd="0" destOrd="0" parTransId="{F4EA7D78-D32D-4272-9244-51BE6520B362}" sibTransId="{7895932B-C615-4B0B-A4FB-3B1CED51E17E}"/>
    <dgm:cxn modelId="{C68A934C-A114-014A-AC9E-3131DDF2BE6F}" type="presOf" srcId="{1C6FED87-FD0D-4018-BFB2-08B6436FC6DB}" destId="{C650F6C6-3A4A-014F-B3A7-388678FC0688}" srcOrd="0" destOrd="0" presId="urn:microsoft.com/office/officeart/2005/8/layout/vList2"/>
    <dgm:cxn modelId="{D1E11D58-CDE7-4F9F-BB66-B099E0D946F3}" srcId="{D9885289-153E-4468-8CB9-F1A00D1AD0E6}" destId="{5E3CD08D-C7BC-4765-BA1C-CF27230DD158}" srcOrd="2" destOrd="0" parTransId="{52EBB314-469A-47AE-8335-29F551F2899F}" sibTransId="{D374004A-E5DE-4C3C-80A4-15DDF3384D73}"/>
    <dgm:cxn modelId="{4385A569-782A-4C8B-A1BB-0291EECA7D55}" srcId="{D9885289-153E-4468-8CB9-F1A00D1AD0E6}" destId="{1C6FED87-FD0D-4018-BFB2-08B6436FC6DB}" srcOrd="1" destOrd="0" parTransId="{FC8E4DB5-F85F-4CB6-B752-0FEDB7DC991B}" sibTransId="{181B5DFC-49DC-4992-89A7-BED981E0F268}"/>
    <dgm:cxn modelId="{E6DD876F-E81C-3546-8C21-F10172EE6F24}" type="presOf" srcId="{FF39DD26-8F66-4951-AEF4-E3A7C74234E4}" destId="{57DB5E1A-F4D0-B744-B1DB-315DFF44E0F4}" srcOrd="0" destOrd="0" presId="urn:microsoft.com/office/officeart/2005/8/layout/vList2"/>
    <dgm:cxn modelId="{53B010B6-471F-0746-8E9F-53C8364658E6}" type="presOf" srcId="{D9885289-153E-4468-8CB9-F1A00D1AD0E6}" destId="{4D8407C0-7773-214C-95A7-B506CB01A6C0}" srcOrd="0" destOrd="0" presId="urn:microsoft.com/office/officeart/2005/8/layout/vList2"/>
    <dgm:cxn modelId="{286220F4-25EB-4C1A-97C5-BF71AAC6BAA0}" srcId="{D9885289-153E-4468-8CB9-F1A00D1AD0E6}" destId="{EB89898C-0BC8-4AFF-96CD-AA883BFA7642}" srcOrd="3" destOrd="0" parTransId="{B55D3CB2-2E50-4862-A398-FDAABD53CE10}" sibTransId="{DA204390-3957-4C15-9F0A-389884741ED4}"/>
    <dgm:cxn modelId="{6A2E6AF8-8B66-7F47-AE0B-69943214DA5C}" type="presOf" srcId="{5E3CD08D-C7BC-4765-BA1C-CF27230DD158}" destId="{9189803C-C1EA-3745-BAE7-46FB30B79E2F}" srcOrd="0" destOrd="0" presId="urn:microsoft.com/office/officeart/2005/8/layout/vList2"/>
    <dgm:cxn modelId="{24D4440D-7EBB-CE41-B526-856950ACC5BD}" type="presParOf" srcId="{4D8407C0-7773-214C-95A7-B506CB01A6C0}" destId="{57DB5E1A-F4D0-B744-B1DB-315DFF44E0F4}" srcOrd="0" destOrd="0" presId="urn:microsoft.com/office/officeart/2005/8/layout/vList2"/>
    <dgm:cxn modelId="{8D913679-E015-944A-B070-99059D99BE67}" type="presParOf" srcId="{4D8407C0-7773-214C-95A7-B506CB01A6C0}" destId="{FBD6A1BA-39CC-6944-8AE7-08C7E6E70BEA}" srcOrd="1" destOrd="0" presId="urn:microsoft.com/office/officeart/2005/8/layout/vList2"/>
    <dgm:cxn modelId="{E925A67D-BC60-B747-B38B-30562B2E176A}" type="presParOf" srcId="{4D8407C0-7773-214C-95A7-B506CB01A6C0}" destId="{C650F6C6-3A4A-014F-B3A7-388678FC0688}" srcOrd="2" destOrd="0" presId="urn:microsoft.com/office/officeart/2005/8/layout/vList2"/>
    <dgm:cxn modelId="{EC4D236A-6797-0E48-8682-F468A5A995CE}" type="presParOf" srcId="{4D8407C0-7773-214C-95A7-B506CB01A6C0}" destId="{F08B1B3E-7C7B-BE4D-AD4F-8D7C57B98442}" srcOrd="3" destOrd="0" presId="urn:microsoft.com/office/officeart/2005/8/layout/vList2"/>
    <dgm:cxn modelId="{DE3FE8F2-84FD-304D-89B4-32D4F0775542}" type="presParOf" srcId="{4D8407C0-7773-214C-95A7-B506CB01A6C0}" destId="{9189803C-C1EA-3745-BAE7-46FB30B79E2F}" srcOrd="4" destOrd="0" presId="urn:microsoft.com/office/officeart/2005/8/layout/vList2"/>
    <dgm:cxn modelId="{DC622522-3C7A-5C40-9534-332261A41354}" type="presParOf" srcId="{4D8407C0-7773-214C-95A7-B506CB01A6C0}" destId="{F6794A0F-ED06-3743-8037-478C1B1A52A3}" srcOrd="5" destOrd="0" presId="urn:microsoft.com/office/officeart/2005/8/layout/vList2"/>
    <dgm:cxn modelId="{5AECE184-3F98-644D-ADD1-AB2C4990B6BD}" type="presParOf" srcId="{4D8407C0-7773-214C-95A7-B506CB01A6C0}" destId="{8679F04C-E747-CC4E-B9FE-A3FC630A8B08}"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566215-C934-4902-931D-630ED33BA99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B37C4D2E-5CE6-4903-A593-CEA4DA1A100F}">
      <dgm:prSet/>
      <dgm:spPr/>
      <dgm:t>
        <a:bodyPr/>
        <a:lstStyle/>
        <a:p>
          <a:r>
            <a:rPr lang="en-US" b="1" i="0" baseline="0"/>
            <a:t>How can educators better support you in using AI tools effectively for your learning?</a:t>
          </a:r>
          <a:r>
            <a:rPr lang="en-US" b="0" i="0" baseline="0"/>
            <a:t> Educators can provide guidelines on ethical AI use, integrate AI literacy into the curriculum, and encourage balanced use alongside traditional learning methods.</a:t>
          </a:r>
          <a:endParaRPr lang="en-US"/>
        </a:p>
      </dgm:t>
    </dgm:pt>
    <dgm:pt modelId="{719CC47D-EF29-4E90-91F6-442EB7558BCF}" type="parTrans" cxnId="{3C0A51AF-E68F-4C82-A3C4-C786257D6A69}">
      <dgm:prSet/>
      <dgm:spPr/>
      <dgm:t>
        <a:bodyPr/>
        <a:lstStyle/>
        <a:p>
          <a:endParaRPr lang="en-US"/>
        </a:p>
      </dgm:t>
    </dgm:pt>
    <dgm:pt modelId="{F6E7C80F-DBA6-4958-BBCA-B4F7220261FA}" type="sibTrans" cxnId="{3C0A51AF-E68F-4C82-A3C4-C786257D6A69}">
      <dgm:prSet/>
      <dgm:spPr/>
      <dgm:t>
        <a:bodyPr/>
        <a:lstStyle/>
        <a:p>
          <a:endParaRPr lang="en-US"/>
        </a:p>
      </dgm:t>
    </dgm:pt>
    <dgm:pt modelId="{9F9FDA6E-3964-418A-896E-134817441C3C}">
      <dgm:prSet/>
      <dgm:spPr/>
      <dgm:t>
        <a:bodyPr/>
        <a:lstStyle/>
        <a:p>
          <a:r>
            <a:rPr lang="en-US" b="1" i="0" baseline="0"/>
            <a:t>If a tutor were to quiz you on the content of this assessment task in person how confident are you in being able to answer their questions? Would the confidence level change if you used AI to complete the assessment?</a:t>
          </a:r>
          <a:r>
            <a:rPr lang="en-US" b="0" i="0" baseline="0"/>
            <a:t> I am confident in my understanding of the assessment content, but my confidence would still be up since I would only use AI as a research tool.</a:t>
          </a:r>
          <a:endParaRPr lang="en-US"/>
        </a:p>
      </dgm:t>
    </dgm:pt>
    <dgm:pt modelId="{261721AB-799B-4713-B926-72940E9566E5}" type="parTrans" cxnId="{D8E38F96-4A5C-4A06-AC94-558E92B063D4}">
      <dgm:prSet/>
      <dgm:spPr/>
      <dgm:t>
        <a:bodyPr/>
        <a:lstStyle/>
        <a:p>
          <a:endParaRPr lang="en-US"/>
        </a:p>
      </dgm:t>
    </dgm:pt>
    <dgm:pt modelId="{90228BFC-50D9-4E80-A97A-4EBC797B67A8}" type="sibTrans" cxnId="{D8E38F96-4A5C-4A06-AC94-558E92B063D4}">
      <dgm:prSet/>
      <dgm:spPr/>
      <dgm:t>
        <a:bodyPr/>
        <a:lstStyle/>
        <a:p>
          <a:endParaRPr lang="en-US"/>
        </a:p>
      </dgm:t>
    </dgm:pt>
    <dgm:pt modelId="{18569CB6-3615-A040-9427-A1A78846D43B}" type="pres">
      <dgm:prSet presAssocID="{D5566215-C934-4902-931D-630ED33BA991}" presName="linear" presStyleCnt="0">
        <dgm:presLayoutVars>
          <dgm:animLvl val="lvl"/>
          <dgm:resizeHandles val="exact"/>
        </dgm:presLayoutVars>
      </dgm:prSet>
      <dgm:spPr/>
    </dgm:pt>
    <dgm:pt modelId="{A6F0F67F-DA36-B548-8B06-3E1FC80B95B2}" type="pres">
      <dgm:prSet presAssocID="{B37C4D2E-5CE6-4903-A593-CEA4DA1A100F}" presName="parentText" presStyleLbl="node1" presStyleIdx="0" presStyleCnt="2">
        <dgm:presLayoutVars>
          <dgm:chMax val="0"/>
          <dgm:bulletEnabled val="1"/>
        </dgm:presLayoutVars>
      </dgm:prSet>
      <dgm:spPr/>
    </dgm:pt>
    <dgm:pt modelId="{17B92924-9E47-D644-9DE9-316104DB832E}" type="pres">
      <dgm:prSet presAssocID="{F6E7C80F-DBA6-4958-BBCA-B4F7220261FA}" presName="spacer" presStyleCnt="0"/>
      <dgm:spPr/>
    </dgm:pt>
    <dgm:pt modelId="{CD786090-01DE-9245-A2C1-837C5462B0C3}" type="pres">
      <dgm:prSet presAssocID="{9F9FDA6E-3964-418A-896E-134817441C3C}" presName="parentText" presStyleLbl="node1" presStyleIdx="1" presStyleCnt="2">
        <dgm:presLayoutVars>
          <dgm:chMax val="0"/>
          <dgm:bulletEnabled val="1"/>
        </dgm:presLayoutVars>
      </dgm:prSet>
      <dgm:spPr/>
    </dgm:pt>
  </dgm:ptLst>
  <dgm:cxnLst>
    <dgm:cxn modelId="{EB374A7E-C611-FA49-9512-34A05AAE983D}" type="presOf" srcId="{B37C4D2E-5CE6-4903-A593-CEA4DA1A100F}" destId="{A6F0F67F-DA36-B548-8B06-3E1FC80B95B2}" srcOrd="0" destOrd="0" presId="urn:microsoft.com/office/officeart/2005/8/layout/vList2"/>
    <dgm:cxn modelId="{D8E38F96-4A5C-4A06-AC94-558E92B063D4}" srcId="{D5566215-C934-4902-931D-630ED33BA991}" destId="{9F9FDA6E-3964-418A-896E-134817441C3C}" srcOrd="1" destOrd="0" parTransId="{261721AB-799B-4713-B926-72940E9566E5}" sibTransId="{90228BFC-50D9-4E80-A97A-4EBC797B67A8}"/>
    <dgm:cxn modelId="{01618799-B7E8-2944-B3C2-039D321C0610}" type="presOf" srcId="{9F9FDA6E-3964-418A-896E-134817441C3C}" destId="{CD786090-01DE-9245-A2C1-837C5462B0C3}" srcOrd="0" destOrd="0" presId="urn:microsoft.com/office/officeart/2005/8/layout/vList2"/>
    <dgm:cxn modelId="{3C0A51AF-E68F-4C82-A3C4-C786257D6A69}" srcId="{D5566215-C934-4902-931D-630ED33BA991}" destId="{B37C4D2E-5CE6-4903-A593-CEA4DA1A100F}" srcOrd="0" destOrd="0" parTransId="{719CC47D-EF29-4E90-91F6-442EB7558BCF}" sibTransId="{F6E7C80F-DBA6-4958-BBCA-B4F7220261FA}"/>
    <dgm:cxn modelId="{2C8B45FB-152A-2646-89B1-AFBB1DE93BA9}" type="presOf" srcId="{D5566215-C934-4902-931D-630ED33BA991}" destId="{18569CB6-3615-A040-9427-A1A78846D43B}" srcOrd="0" destOrd="0" presId="urn:microsoft.com/office/officeart/2005/8/layout/vList2"/>
    <dgm:cxn modelId="{D3F8CDF0-0043-284E-809C-A45C16158D8E}" type="presParOf" srcId="{18569CB6-3615-A040-9427-A1A78846D43B}" destId="{A6F0F67F-DA36-B548-8B06-3E1FC80B95B2}" srcOrd="0" destOrd="0" presId="urn:microsoft.com/office/officeart/2005/8/layout/vList2"/>
    <dgm:cxn modelId="{B4DAF3B3-C80E-AD41-B895-CDD6FBC29B29}" type="presParOf" srcId="{18569CB6-3615-A040-9427-A1A78846D43B}" destId="{17B92924-9E47-D644-9DE9-316104DB832E}" srcOrd="1" destOrd="0" presId="urn:microsoft.com/office/officeart/2005/8/layout/vList2"/>
    <dgm:cxn modelId="{FAF28375-7902-D24E-AA3B-5784785A27A6}" type="presParOf" srcId="{18569CB6-3615-A040-9427-A1A78846D43B}" destId="{CD786090-01DE-9245-A2C1-837C5462B0C3}"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230EC5-B0FC-104C-ACA4-1209C25EB219}">
      <dsp:nvSpPr>
        <dsp:cNvPr id="0" name=""/>
        <dsp:cNvSpPr/>
      </dsp:nvSpPr>
      <dsp:spPr>
        <a:xfrm>
          <a:off x="0" y="0"/>
          <a:ext cx="105156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25F2C3-B794-554A-B54D-922B7F831EC3}">
      <dsp:nvSpPr>
        <dsp:cNvPr id="0" name=""/>
        <dsp:cNvSpPr/>
      </dsp:nvSpPr>
      <dsp:spPr>
        <a:xfrm>
          <a:off x="0" y="0"/>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x-none" sz="2300" kern="1200">
              <a:effectLst/>
              <a:latin typeface="Times New Roman" panose="02020503050405090304" pitchFamily="18" charset="0"/>
              <a:ea typeface="Times New Roman" panose="02020503050405090304" pitchFamily="18" charset="0"/>
            </a:rPr>
            <a:t>Gustafson, A., King, C. and Rey, J.A. (2013) </a:t>
          </a:r>
          <a:r>
            <a:rPr lang="x-none" sz="2300" i="1" kern="1200">
              <a:effectLst/>
              <a:latin typeface="Times New Roman" panose="02020503050405090304" pitchFamily="18" charset="0"/>
              <a:ea typeface="Times New Roman" panose="02020503050405090304" pitchFamily="18" charset="0"/>
            </a:rPr>
            <a:t>Lorcaserin (Belviq): a selective serotonin 5-HT2C agonist in treating obesity</a:t>
          </a:r>
          <a:r>
            <a:rPr lang="x-none" sz="2300" kern="1200">
              <a:effectLst/>
              <a:latin typeface="Times New Roman" panose="02020503050405090304" pitchFamily="18" charset="0"/>
              <a:ea typeface="Times New Roman" panose="02020503050405090304" pitchFamily="18" charset="0"/>
            </a:rPr>
            <a:t>. https://www.ncbi.nlm.nih.gov/pmc/articles/PMC3828930/.</a:t>
          </a:r>
          <a:endParaRPr lang="x-none" sz="2300" kern="1200" dirty="0">
            <a:effectLst/>
            <a:latin typeface="Times New Roman" panose="02020503050405090304" pitchFamily="18" charset="0"/>
            <a:ea typeface="Times New Roman" panose="02020503050405090304" pitchFamily="18" charset="0"/>
          </a:endParaRPr>
        </a:p>
      </dsp:txBody>
      <dsp:txXfrm>
        <a:off x="0" y="0"/>
        <a:ext cx="10515600" cy="1087834"/>
      </dsp:txXfrm>
    </dsp:sp>
    <dsp:sp modelId="{38AD81F8-23DC-7F42-B511-7B939EBD92B6}">
      <dsp:nvSpPr>
        <dsp:cNvPr id="0" name=""/>
        <dsp:cNvSpPr/>
      </dsp:nvSpPr>
      <dsp:spPr>
        <a:xfrm>
          <a:off x="0" y="1087834"/>
          <a:ext cx="105156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7F1C9B-7E1C-7642-9102-820460217FEF}">
      <dsp:nvSpPr>
        <dsp:cNvPr id="0" name=""/>
        <dsp:cNvSpPr/>
      </dsp:nvSpPr>
      <dsp:spPr>
        <a:xfrm>
          <a:off x="0" y="1087834"/>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x-none" sz="2300" kern="1200">
              <a:effectLst/>
              <a:latin typeface="Times New Roman" panose="02020503050405090304" pitchFamily="18" charset="0"/>
              <a:ea typeface="Calibri" panose="020F0502020204030204" pitchFamily="34" charset="0"/>
              <a:cs typeface="Times New Roman" panose="02020503050405090304" pitchFamily="18" charset="0"/>
            </a:rPr>
            <a:t>Higgins, G.A., Fletcher, P.J. and Shanahan, W.R. (2020) 'Lorcaserin: A review of its preclinical and clinical pharmacology and therapeutic potential,' </a:t>
          </a:r>
          <a:r>
            <a:rPr lang="x-none" sz="2300" i="1" kern="1200">
              <a:effectLst/>
              <a:latin typeface="Times New Roman" panose="02020503050405090304" pitchFamily="18" charset="0"/>
              <a:ea typeface="Calibri" panose="020F0502020204030204" pitchFamily="34" charset="0"/>
              <a:cs typeface="Times New Roman" panose="02020503050405090304" pitchFamily="18" charset="0"/>
            </a:rPr>
            <a:t>Pharmacology &amp; Therapeutics</a:t>
          </a:r>
          <a:r>
            <a:rPr lang="x-none" sz="2300" kern="1200">
              <a:effectLst/>
              <a:latin typeface="Times New Roman" panose="02020503050405090304" pitchFamily="18" charset="0"/>
              <a:ea typeface="Calibri" panose="020F0502020204030204" pitchFamily="34" charset="0"/>
              <a:cs typeface="Times New Roman" panose="02020503050405090304" pitchFamily="18" charset="0"/>
            </a:rPr>
            <a:t>, 205, p. 107417. https://doi.org/10.1016/j.pharmthera.2019.107417.</a:t>
          </a:r>
          <a:endParaRPr lang="x-none" sz="2300" kern="1200" dirty="0">
            <a:effectLst/>
            <a:latin typeface="Times New Roman" panose="02020503050405090304" pitchFamily="18" charset="0"/>
            <a:ea typeface="Calibri" panose="020F0502020204030204" pitchFamily="34" charset="0"/>
            <a:cs typeface="Times New Roman" panose="02020503050405090304" pitchFamily="18" charset="0"/>
          </a:endParaRPr>
        </a:p>
      </dsp:txBody>
      <dsp:txXfrm>
        <a:off x="0" y="1087834"/>
        <a:ext cx="10515600" cy="1087834"/>
      </dsp:txXfrm>
    </dsp:sp>
    <dsp:sp modelId="{97668E09-6D2B-3245-8698-5963D09D4613}">
      <dsp:nvSpPr>
        <dsp:cNvPr id="0" name=""/>
        <dsp:cNvSpPr/>
      </dsp:nvSpPr>
      <dsp:spPr>
        <a:xfrm>
          <a:off x="0" y="2175669"/>
          <a:ext cx="105156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33BD74-99A1-5546-B6CF-E70918F0257C}">
      <dsp:nvSpPr>
        <dsp:cNvPr id="0" name=""/>
        <dsp:cNvSpPr/>
      </dsp:nvSpPr>
      <dsp:spPr>
        <a:xfrm>
          <a:off x="0" y="2175669"/>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x-none" sz="2300" kern="1200">
              <a:effectLst/>
              <a:latin typeface="Times New Roman" panose="02020503050405090304" pitchFamily="18" charset="0"/>
              <a:ea typeface="Calibri" panose="020F0502020204030204" pitchFamily="34" charset="0"/>
              <a:cs typeface="Times New Roman" panose="02020503050405090304" pitchFamily="18" charset="0"/>
            </a:rPr>
            <a:t>Kim, B.-Y. </a:t>
          </a:r>
          <a:r>
            <a:rPr lang="x-none" sz="2300" i="1" kern="1200">
              <a:effectLst/>
              <a:latin typeface="Times New Roman" panose="02020503050405090304" pitchFamily="18" charset="0"/>
              <a:ea typeface="Calibri" panose="020F0502020204030204" pitchFamily="34" charset="0"/>
              <a:cs typeface="Times New Roman" panose="02020503050405090304" pitchFamily="18" charset="0"/>
            </a:rPr>
            <a:t>et al.</a:t>
          </a:r>
          <a:r>
            <a:rPr lang="x-none" sz="2300" kern="1200">
              <a:effectLst/>
              <a:latin typeface="Times New Roman" panose="02020503050405090304" pitchFamily="18" charset="0"/>
              <a:ea typeface="Calibri" panose="020F0502020204030204" pitchFamily="34" charset="0"/>
              <a:cs typeface="Times New Roman" panose="02020503050405090304" pitchFamily="18" charset="0"/>
            </a:rPr>
            <a:t> (2020) 'Current Long-Term Pharmacotherapies for the Management of Obesity,' </a:t>
          </a:r>
          <a:r>
            <a:rPr lang="x-none" sz="2300" i="1" kern="1200">
              <a:effectLst/>
              <a:latin typeface="Times New Roman" panose="02020503050405090304" pitchFamily="18" charset="0"/>
              <a:ea typeface="Calibri" panose="020F0502020204030204" pitchFamily="34" charset="0"/>
              <a:cs typeface="Times New Roman" panose="02020503050405090304" pitchFamily="18" charset="0"/>
            </a:rPr>
            <a:t>Journal of Obesity &amp; Metabolic Syndrome</a:t>
          </a:r>
          <a:r>
            <a:rPr lang="x-none" sz="2300" kern="1200">
              <a:effectLst/>
              <a:latin typeface="Times New Roman" panose="02020503050405090304" pitchFamily="18" charset="0"/>
              <a:ea typeface="Calibri" panose="020F0502020204030204" pitchFamily="34" charset="0"/>
              <a:cs typeface="Times New Roman" panose="02020503050405090304" pitchFamily="18" charset="0"/>
            </a:rPr>
            <a:t>, 29(2), pp. 99–109. https://doi.org/10.7570/jomes20010.</a:t>
          </a:r>
          <a:endParaRPr lang="x-none" sz="2300" kern="1200" dirty="0">
            <a:effectLst/>
            <a:latin typeface="Times New Roman" panose="02020503050405090304" pitchFamily="18" charset="0"/>
            <a:ea typeface="Calibri" panose="020F0502020204030204" pitchFamily="34" charset="0"/>
            <a:cs typeface="Times New Roman" panose="02020503050405090304" pitchFamily="18" charset="0"/>
          </a:endParaRPr>
        </a:p>
      </dsp:txBody>
      <dsp:txXfrm>
        <a:off x="0" y="2175669"/>
        <a:ext cx="10515600" cy="1087834"/>
      </dsp:txXfrm>
    </dsp:sp>
    <dsp:sp modelId="{C2B3F154-0A3B-B94B-AC18-A12494329012}">
      <dsp:nvSpPr>
        <dsp:cNvPr id="0" name=""/>
        <dsp:cNvSpPr/>
      </dsp:nvSpPr>
      <dsp:spPr>
        <a:xfrm>
          <a:off x="0" y="3263503"/>
          <a:ext cx="105156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9C19C0-D3C0-C049-AF43-76407F5C475C}">
      <dsp:nvSpPr>
        <dsp:cNvPr id="0" name=""/>
        <dsp:cNvSpPr/>
      </dsp:nvSpPr>
      <dsp:spPr>
        <a:xfrm>
          <a:off x="0" y="3263503"/>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x-none" sz="2300" kern="1200">
              <a:effectLst/>
              <a:latin typeface="Times New Roman" panose="02020503050405090304" pitchFamily="18" charset="0"/>
              <a:ea typeface="Calibri" panose="020F0502020204030204" pitchFamily="34" charset="0"/>
              <a:cs typeface="Times New Roman" panose="02020503050405090304" pitchFamily="18" charset="0"/>
            </a:rPr>
            <a:t>Kuo, H. </a:t>
          </a:r>
          <a:r>
            <a:rPr lang="x-none" sz="2300" i="1" kern="1200">
              <a:effectLst/>
              <a:latin typeface="Times New Roman" panose="02020503050405090304" pitchFamily="18" charset="0"/>
              <a:ea typeface="Calibri" panose="020F0502020204030204" pitchFamily="34" charset="0"/>
              <a:cs typeface="Times New Roman" panose="02020503050405090304" pitchFamily="18" charset="0"/>
            </a:rPr>
            <a:t>et al.</a:t>
          </a:r>
          <a:r>
            <a:rPr lang="x-none" sz="2300" kern="1200">
              <a:effectLst/>
              <a:latin typeface="Times New Roman" panose="02020503050405090304" pitchFamily="18" charset="0"/>
              <a:ea typeface="Calibri" panose="020F0502020204030204" pitchFamily="34" charset="0"/>
              <a:cs typeface="Times New Roman" panose="02020503050405090304" pitchFamily="18" charset="0"/>
            </a:rPr>
            <a:t> (2019) 'Effects of lorcaserin on cardiometabolic risk factors in overweight and obese patients: A systematic review and meta‐analysis,' </a:t>
          </a:r>
          <a:r>
            <a:rPr lang="x-none" sz="2300" i="1" kern="1200">
              <a:effectLst/>
              <a:latin typeface="Times New Roman" panose="02020503050405090304" pitchFamily="18" charset="0"/>
              <a:ea typeface="Calibri" panose="020F0502020204030204" pitchFamily="34" charset="0"/>
              <a:cs typeface="Times New Roman" panose="02020503050405090304" pitchFamily="18" charset="0"/>
            </a:rPr>
            <a:t>Journal of Clinical Pharmacy and Therapeutics</a:t>
          </a:r>
          <a:r>
            <a:rPr lang="x-none" sz="2300" kern="1200">
              <a:effectLst/>
              <a:latin typeface="Times New Roman" panose="02020503050405090304" pitchFamily="18" charset="0"/>
              <a:ea typeface="Calibri" panose="020F0502020204030204" pitchFamily="34" charset="0"/>
              <a:cs typeface="Times New Roman" panose="02020503050405090304" pitchFamily="18" charset="0"/>
            </a:rPr>
            <a:t>, 45(1), pp. 35–44. </a:t>
          </a:r>
          <a:r>
            <a:rPr lang="en-US" sz="2300" kern="1200">
              <a:latin typeface="Times New Roman" panose="02020503050405090304" pitchFamily="18" charset="0"/>
              <a:ea typeface="Calibri" panose="020F0502020204030204" pitchFamily="34" charset="0"/>
              <a:cs typeface="Times New Roman" panose="02020503050405090304" pitchFamily="18" charset="0"/>
            </a:rPr>
            <a:t>https://doi.org/10.1111/jcpt.13047</a:t>
          </a:r>
          <a:r>
            <a:rPr lang="x-none" sz="2300" kern="1200">
              <a:effectLst/>
              <a:latin typeface="Times New Roman" panose="02020503050405090304" pitchFamily="18" charset="0"/>
              <a:ea typeface="Calibri" panose="020F0502020204030204" pitchFamily="34" charset="0"/>
              <a:cs typeface="Times New Roman" panose="02020503050405090304" pitchFamily="18" charset="0"/>
            </a:rPr>
            <a:t>.</a:t>
          </a:r>
          <a:endParaRPr lang="x-none" sz="2300" kern="1200" dirty="0">
            <a:effectLst/>
            <a:latin typeface="Times New Roman" panose="02020503050405090304" pitchFamily="18" charset="0"/>
            <a:ea typeface="Calibri" panose="020F0502020204030204" pitchFamily="34" charset="0"/>
            <a:cs typeface="Times New Roman" panose="02020503050405090304" pitchFamily="18" charset="0"/>
          </a:endParaRPr>
        </a:p>
      </dsp:txBody>
      <dsp:txXfrm>
        <a:off x="0" y="3263503"/>
        <a:ext cx="10515600" cy="10878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7234F3-2DCA-0149-9090-B4F6D6FFD4F1}">
      <dsp:nvSpPr>
        <dsp:cNvPr id="0" name=""/>
        <dsp:cNvSpPr/>
      </dsp:nvSpPr>
      <dsp:spPr>
        <a:xfrm>
          <a:off x="0" y="0"/>
          <a:ext cx="105156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05EF99-F918-1945-AD49-73E923E52B23}">
      <dsp:nvSpPr>
        <dsp:cNvPr id="0" name=""/>
        <dsp:cNvSpPr/>
      </dsp:nvSpPr>
      <dsp:spPr>
        <a:xfrm>
          <a:off x="0" y="0"/>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kumimoji="0" lang="x-none" sz="2200" b="0" i="0" u="none" strike="noStrike" kern="1200"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Mazza, M. </a:t>
          </a:r>
          <a:r>
            <a:rPr kumimoji="0" lang="x-none" sz="2200" b="0" i="1" u="none" strike="noStrike" kern="1200"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et al.</a:t>
          </a:r>
          <a:r>
            <a:rPr kumimoji="0" lang="x-none" sz="2200" b="0" i="0" u="none" strike="noStrike" kern="1200"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 (2024) 'Lorcaserin: Worthy of Further Insights? Results from Recent Research,' </a:t>
          </a:r>
          <a:r>
            <a:rPr kumimoji="0" lang="x-none" sz="2200" b="0" i="1" u="none" strike="noStrike" kern="1200"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CNS &amp; Neurological Disorders. Drug Targets</a:t>
          </a:r>
          <a:r>
            <a:rPr kumimoji="0" lang="x-none" sz="2200" b="0" i="0" u="none" strike="noStrike" kern="1200"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 23(3), pp. 278–283. https://doi.org/10.2174/1871527322666230330124137.</a:t>
          </a:r>
          <a:endParaRPr kumimoji="0" lang="x-none" sz="2200" b="0" i="0" u="none" strike="noStrike" kern="1200" cap="none" spc="0" normalizeH="0" baseline="0" noProof="0" dirty="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endParaRPr>
        </a:p>
      </dsp:txBody>
      <dsp:txXfrm>
        <a:off x="0" y="0"/>
        <a:ext cx="10515600" cy="1087834"/>
      </dsp:txXfrm>
    </dsp:sp>
    <dsp:sp modelId="{686F038B-B837-AE41-B16C-9DE85DA00C39}">
      <dsp:nvSpPr>
        <dsp:cNvPr id="0" name=""/>
        <dsp:cNvSpPr/>
      </dsp:nvSpPr>
      <dsp:spPr>
        <a:xfrm>
          <a:off x="0" y="1087834"/>
          <a:ext cx="105156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D8C054-025F-8446-9B05-24830C3A40AA}">
      <dsp:nvSpPr>
        <dsp:cNvPr id="0" name=""/>
        <dsp:cNvSpPr/>
      </dsp:nvSpPr>
      <dsp:spPr>
        <a:xfrm>
          <a:off x="0" y="1087834"/>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kumimoji="0" lang="x-none" sz="2200" b="0" i="0" u="none" strike="noStrike" kern="1200"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Singh, A.K. and Singh, R. (2020) 'Efficacy and safety of lorcaserin in obesity: a systematic review and meta-analysis of randomized controlled trials,' </a:t>
          </a:r>
          <a:r>
            <a:rPr kumimoji="0" lang="x-none" sz="2200" b="0" i="1" u="none" strike="noStrike" kern="1200"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Expert Review of Clinical Pharmacology</a:t>
          </a:r>
          <a:r>
            <a:rPr kumimoji="0" lang="x-none" sz="2200" b="0" i="0" u="none" strike="noStrike" kern="1200"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 13(2), pp. 183–190. https://doi.org/10.1080/17512433.2020.1703109.</a:t>
          </a:r>
          <a:endParaRPr kumimoji="0" lang="x-none" sz="2200" b="0" i="0" u="none" strike="noStrike" kern="1200" cap="none" spc="0" normalizeH="0" baseline="0" noProof="0" dirty="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endParaRPr>
        </a:p>
      </dsp:txBody>
      <dsp:txXfrm>
        <a:off x="0" y="1087834"/>
        <a:ext cx="10515600" cy="1087834"/>
      </dsp:txXfrm>
    </dsp:sp>
    <dsp:sp modelId="{7C46192F-F634-2642-999D-80230116A55D}">
      <dsp:nvSpPr>
        <dsp:cNvPr id="0" name=""/>
        <dsp:cNvSpPr/>
      </dsp:nvSpPr>
      <dsp:spPr>
        <a:xfrm>
          <a:off x="0" y="2175669"/>
          <a:ext cx="105156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3455D5-C3A6-1F47-BCA5-3F01EB298B5B}">
      <dsp:nvSpPr>
        <dsp:cNvPr id="0" name=""/>
        <dsp:cNvSpPr/>
      </dsp:nvSpPr>
      <dsp:spPr>
        <a:xfrm>
          <a:off x="0" y="2175669"/>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kumimoji="0" lang="x-none" sz="2200" b="0" i="0" u="none" strike="noStrike" kern="1200"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Tak, Y.J. and Lee, S.Y. (2021) 'Anti-Obesity Drugs: Long-Term Efficacy and Safety: An Updated review,' </a:t>
          </a:r>
          <a:r>
            <a:rPr kumimoji="0" lang="x-none" sz="2200" b="0" i="1" u="none" strike="noStrike" kern="1200"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the World Journal of Men’s Health</a:t>
          </a:r>
          <a:r>
            <a:rPr kumimoji="0" lang="x-none" sz="2200" b="0" i="0" u="none" strike="noStrike" kern="1200"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 39(2), p. 208. https://doi.org/10.5534/wjmh.200010.</a:t>
          </a:r>
          <a:endParaRPr kumimoji="0" lang="x-none" sz="2200" b="0" i="0" u="none" strike="noStrike" kern="1200" cap="none" spc="0" normalizeH="0" baseline="0" noProof="0" dirty="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endParaRPr>
        </a:p>
      </dsp:txBody>
      <dsp:txXfrm>
        <a:off x="0" y="2175669"/>
        <a:ext cx="10515600" cy="1087834"/>
      </dsp:txXfrm>
    </dsp:sp>
    <dsp:sp modelId="{6FDAC158-2AD3-3A45-81A2-F48766779B45}">
      <dsp:nvSpPr>
        <dsp:cNvPr id="0" name=""/>
        <dsp:cNvSpPr/>
      </dsp:nvSpPr>
      <dsp:spPr>
        <a:xfrm>
          <a:off x="0" y="3263503"/>
          <a:ext cx="105156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43FFA8-9063-EC42-9B99-EFD039DDB605}">
      <dsp:nvSpPr>
        <dsp:cNvPr id="0" name=""/>
        <dsp:cNvSpPr/>
      </dsp:nvSpPr>
      <dsp:spPr>
        <a:xfrm>
          <a:off x="0" y="3263503"/>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kumimoji="0" lang="x-none" sz="2200" b="0" i="0" u="none" strike="noStrike" kern="1200"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Tchang, B.G. </a:t>
          </a:r>
          <a:r>
            <a:rPr kumimoji="0" lang="x-none" sz="2200" b="0" i="1" u="none" strike="noStrike" kern="1200"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et al.</a:t>
          </a:r>
          <a:r>
            <a:rPr kumimoji="0" lang="x-none" sz="2200" b="0" i="0" u="none" strike="noStrike" kern="1200"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 (2019) 'An up-to-date evaluation of lorcaserin hydrochloride for the treatment of obesity,' </a:t>
          </a:r>
          <a:r>
            <a:rPr kumimoji="0" lang="x-none" sz="2200" b="0" i="1" u="none" strike="noStrike" kern="1200"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Expert Opinion on Pharmacotherapy</a:t>
          </a:r>
          <a:r>
            <a:rPr kumimoji="0" lang="x-none" sz="2200" b="0" i="0" u="none" strike="noStrike" kern="1200" cap="none" spc="0" normalizeH="0" baseline="0" noProof="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rPr>
            <a:t>, 21(1), pp. 21–28. https://doi.org/10.1080/14656566.2019.1685496.</a:t>
          </a:r>
          <a:endParaRPr kumimoji="0" lang="x-none" sz="2200" b="0" i="0" u="none" strike="noStrike" kern="1200" cap="none" spc="0" normalizeH="0" baseline="0" noProof="0" dirty="0">
            <a:ln>
              <a:noFill/>
            </a:ln>
            <a:solidFill>
              <a:prstClr val="black"/>
            </a:solidFill>
            <a:effectLst/>
            <a:uLnTx/>
            <a:uFillTx/>
            <a:latin typeface="Times New Roman" panose="02020503050405090304" pitchFamily="18" charset="0"/>
            <a:ea typeface="Calibri" panose="020F0502020204030204" pitchFamily="34" charset="0"/>
            <a:cs typeface="Times New Roman" panose="02020503050405090304" pitchFamily="18" charset="0"/>
          </a:endParaRPr>
        </a:p>
      </dsp:txBody>
      <dsp:txXfrm>
        <a:off x="0" y="3263503"/>
        <a:ext cx="10515600" cy="10878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DB5E1A-F4D0-B744-B1DB-315DFF44E0F4}">
      <dsp:nvSpPr>
        <dsp:cNvPr id="0" name=""/>
        <dsp:cNvSpPr/>
      </dsp:nvSpPr>
      <dsp:spPr>
        <a:xfrm>
          <a:off x="0" y="118269"/>
          <a:ext cx="10515600" cy="98982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Why did you decide not to use AI to complete this assessment task?</a:t>
          </a:r>
          <a:r>
            <a:rPr lang="en-US" sz="1800" b="0" i="0" kern="1200" baseline="0" dirty="0"/>
            <a:t> I wanted to challenge myself and enhance my research and critical thinking skills.</a:t>
          </a:r>
          <a:r>
            <a:rPr lang="zh-CN" altLang="en-US" sz="1800" b="0" i="0" kern="1200" baseline="0" dirty="0"/>
            <a:t> </a:t>
          </a:r>
          <a:r>
            <a:rPr lang="en-US" altLang="zh-CN" sz="1800" b="0" i="0" kern="1200" baseline="0" dirty="0"/>
            <a:t>Moreover,</a:t>
          </a:r>
          <a:r>
            <a:rPr lang="zh-CN" altLang="en-US" sz="1800" b="0" i="0" kern="1200" baseline="0" dirty="0"/>
            <a:t> </a:t>
          </a:r>
          <a:r>
            <a:rPr lang="en-US" altLang="zh-CN" sz="1800" b="0" i="0" kern="1200" baseline="0" dirty="0"/>
            <a:t>e</a:t>
          </a:r>
          <a:r>
            <a:rPr lang="en-GB" altLang="en-US" sz="1800" b="0" i="0" kern="1200" baseline="0" dirty="0" err="1"/>
            <a:t>xcessive</a:t>
          </a:r>
          <a:r>
            <a:rPr lang="en-GB" altLang="en-US" sz="1800" b="0" i="0" kern="1200" baseline="0" dirty="0"/>
            <a:t> use of AI may disrupt my original thinking. The greater dependence on AI will lead to a lack of self-created content.</a:t>
          </a:r>
          <a:endParaRPr lang="en-US" sz="1800" kern="1200" dirty="0"/>
        </a:p>
      </dsp:txBody>
      <dsp:txXfrm>
        <a:off x="48319" y="166588"/>
        <a:ext cx="10418962" cy="893182"/>
      </dsp:txXfrm>
    </dsp:sp>
    <dsp:sp modelId="{C650F6C6-3A4A-014F-B3A7-388678FC0688}">
      <dsp:nvSpPr>
        <dsp:cNvPr id="0" name=""/>
        <dsp:cNvSpPr/>
      </dsp:nvSpPr>
      <dsp:spPr>
        <a:xfrm>
          <a:off x="0" y="1159929"/>
          <a:ext cx="10515600" cy="98982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What was your process for researching and completing this assessment task?</a:t>
          </a:r>
          <a:r>
            <a:rPr lang="en-US" sz="1800" b="0" i="0" kern="1200" baseline="0" dirty="0"/>
            <a:t> I used academic databases, peer-reviewed journals, and textbooks to gather relevant information and synthesize the data into my assessment.</a:t>
          </a:r>
          <a:endParaRPr lang="en-US" sz="1800" kern="1200" dirty="0"/>
        </a:p>
      </dsp:txBody>
      <dsp:txXfrm>
        <a:off x="48319" y="1208248"/>
        <a:ext cx="10418962" cy="893182"/>
      </dsp:txXfrm>
    </dsp:sp>
    <dsp:sp modelId="{9189803C-C1EA-3745-BAE7-46FB30B79E2F}">
      <dsp:nvSpPr>
        <dsp:cNvPr id="0" name=""/>
        <dsp:cNvSpPr/>
      </dsp:nvSpPr>
      <dsp:spPr>
        <a:xfrm>
          <a:off x="0" y="2201589"/>
          <a:ext cx="10515600" cy="989820"/>
        </a:xfrm>
        <a:prstGeom prst="roundRect">
          <a:avLst/>
        </a:prstGeom>
        <a:solidFill>
          <a:schemeClr val="accent2">
            <a:hueOff val="4295742"/>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a:t>Have you ever used AI to complete assessment tasks? If so, which tools were the most helpful and why?</a:t>
          </a:r>
          <a:r>
            <a:rPr lang="en-US" sz="1800" b="0" i="0" kern="1200" baseline="0"/>
            <a:t> No, I have not yet used AI tools.</a:t>
          </a:r>
          <a:endParaRPr lang="en-US" sz="1800" kern="1200"/>
        </a:p>
      </dsp:txBody>
      <dsp:txXfrm>
        <a:off x="48319" y="2249908"/>
        <a:ext cx="10418962" cy="893182"/>
      </dsp:txXfrm>
    </dsp:sp>
    <dsp:sp modelId="{8679F04C-E747-CC4E-B9FE-A3FC630A8B08}">
      <dsp:nvSpPr>
        <dsp:cNvPr id="0" name=""/>
        <dsp:cNvSpPr/>
      </dsp:nvSpPr>
      <dsp:spPr>
        <a:xfrm>
          <a:off x="0" y="3243249"/>
          <a:ext cx="10515600" cy="989820"/>
        </a:xfrm>
        <a:prstGeom prst="roundRect">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Do you worry that relying on AI tools now might negatively impact your ability to learn independently in the future?</a:t>
          </a:r>
          <a:r>
            <a:rPr lang="en-US" sz="1800" b="0" i="0" kern="1200" baseline="0" dirty="0"/>
            <a:t> Yes, over-reliance on AI tools could potentially diminish my critical thinking and problem-solving skills.</a:t>
          </a:r>
          <a:r>
            <a:rPr lang="zh-CN" altLang="en-US" sz="1800" b="0" i="0" kern="1200" baseline="0" dirty="0"/>
            <a:t> </a:t>
          </a:r>
          <a:r>
            <a:rPr lang="en-US" altLang="zh-CN" sz="1800" b="0" i="0" kern="1200" baseline="0" dirty="0"/>
            <a:t>Playing</a:t>
          </a:r>
          <a:r>
            <a:rPr lang="zh-CN" altLang="en-US" sz="1800" b="0" i="0" kern="1200" baseline="0" dirty="0"/>
            <a:t> </a:t>
          </a:r>
          <a:r>
            <a:rPr lang="en-US" altLang="zh-CN" sz="1800" b="0" i="0" kern="1200" baseline="0" dirty="0"/>
            <a:t>into</a:t>
          </a:r>
          <a:r>
            <a:rPr lang="zh-CN" altLang="en-US" sz="1800" b="0" i="0" kern="1200" baseline="0" dirty="0"/>
            <a:t> </a:t>
          </a:r>
          <a:r>
            <a:rPr lang="en-US" altLang="zh-CN" sz="1800" b="0" i="0" kern="1200" baseline="0" dirty="0"/>
            <a:t>the</a:t>
          </a:r>
          <a:r>
            <a:rPr lang="zh-CN" altLang="en-US" sz="1800" b="0" i="0" kern="1200" baseline="0" dirty="0"/>
            <a:t> </a:t>
          </a:r>
          <a:r>
            <a:rPr lang="en-US" altLang="zh-CN" sz="1800" b="0" i="0" kern="1200" baseline="0" dirty="0"/>
            <a:t>role</a:t>
          </a:r>
          <a:r>
            <a:rPr lang="zh-CN" altLang="en-US" sz="1800" b="0" i="0" kern="1200" baseline="0" dirty="0"/>
            <a:t> </a:t>
          </a:r>
          <a:r>
            <a:rPr lang="en-US" altLang="zh-CN" sz="1800" b="0" i="0" kern="1200" baseline="0" dirty="0"/>
            <a:t>of</a:t>
          </a:r>
          <a:r>
            <a:rPr lang="zh-CN" altLang="en-US" sz="1800" b="0" i="0" kern="1200" baseline="0" dirty="0"/>
            <a:t> </a:t>
          </a:r>
          <a:r>
            <a:rPr lang="en-US" altLang="zh-CN" sz="1800" b="0" i="0" kern="1200" baseline="0" dirty="0"/>
            <a:t>researching</a:t>
          </a:r>
          <a:r>
            <a:rPr lang="zh-CN" altLang="en-US" sz="1800" b="0" i="0" kern="1200" baseline="0" dirty="0"/>
            <a:t> </a:t>
          </a:r>
          <a:r>
            <a:rPr lang="en-US" altLang="zh-CN" sz="1800" b="0" i="0" kern="1200" baseline="0" dirty="0"/>
            <a:t>is</a:t>
          </a:r>
          <a:r>
            <a:rPr lang="zh-CN" altLang="en-US" sz="1800" b="0" i="0" kern="1200" baseline="0" dirty="0"/>
            <a:t> </a:t>
          </a:r>
          <a:r>
            <a:rPr lang="en-US" altLang="zh-CN" sz="1800" b="0" i="0" kern="1200" baseline="0" dirty="0"/>
            <a:t>very</a:t>
          </a:r>
          <a:r>
            <a:rPr lang="zh-CN" altLang="en-US" sz="1800" b="0" i="0" kern="1200" baseline="0" dirty="0"/>
            <a:t> </a:t>
          </a:r>
          <a:r>
            <a:rPr lang="en-US" altLang="zh-CN" sz="1800" b="0" i="0" kern="1200" baseline="0" dirty="0"/>
            <a:t>important.</a:t>
          </a:r>
          <a:endParaRPr lang="en-US" sz="1800" kern="1200" dirty="0"/>
        </a:p>
      </dsp:txBody>
      <dsp:txXfrm>
        <a:off x="48319" y="3291568"/>
        <a:ext cx="10418962" cy="8931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F0F67F-DA36-B548-8B06-3E1FC80B95B2}">
      <dsp:nvSpPr>
        <dsp:cNvPr id="0" name=""/>
        <dsp:cNvSpPr/>
      </dsp:nvSpPr>
      <dsp:spPr>
        <a:xfrm>
          <a:off x="0" y="141958"/>
          <a:ext cx="10515600" cy="200059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baseline="0"/>
            <a:t>How can educators better support you in using AI tools effectively for your learning?</a:t>
          </a:r>
          <a:r>
            <a:rPr lang="en-US" sz="2300" b="0" i="0" kern="1200" baseline="0"/>
            <a:t> Educators can provide guidelines on ethical AI use, integrate AI literacy into the curriculum, and encourage balanced use alongside traditional learning methods.</a:t>
          </a:r>
          <a:endParaRPr lang="en-US" sz="2300" kern="1200"/>
        </a:p>
      </dsp:txBody>
      <dsp:txXfrm>
        <a:off x="97661" y="239619"/>
        <a:ext cx="10320278" cy="1805268"/>
      </dsp:txXfrm>
    </dsp:sp>
    <dsp:sp modelId="{CD786090-01DE-9245-A2C1-837C5462B0C3}">
      <dsp:nvSpPr>
        <dsp:cNvPr id="0" name=""/>
        <dsp:cNvSpPr/>
      </dsp:nvSpPr>
      <dsp:spPr>
        <a:xfrm>
          <a:off x="0" y="2208789"/>
          <a:ext cx="10515600" cy="2000590"/>
        </a:xfrm>
        <a:prstGeom prst="roundRect">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baseline="0"/>
            <a:t>If a tutor were to quiz you on the content of this assessment task in person how confident are you in being able to answer their questions? Would the confidence level change if you used AI to complete the assessment?</a:t>
          </a:r>
          <a:r>
            <a:rPr lang="en-US" sz="2300" b="0" i="0" kern="1200" baseline="0"/>
            <a:t> I am confident in my understanding of the assessment content, but my confidence would still be up since I would only use AI as a research tool.</a:t>
          </a:r>
          <a:endParaRPr lang="en-US" sz="2300" kern="1200"/>
        </a:p>
      </dsp:txBody>
      <dsp:txXfrm>
        <a:off x="97661" y="2306450"/>
        <a:ext cx="10320278" cy="180526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BEA5-2C4C-1150-8EA7-248D64069DE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F5AFCA6-F423-B94E-075D-3B78829B2C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B32DCF1-9EFA-1470-CFA2-3B2D1ECAA31B}"/>
              </a:ext>
            </a:extLst>
          </p:cNvPr>
          <p:cNvSpPr>
            <a:spLocks noGrp="1"/>
          </p:cNvSpPr>
          <p:nvPr>
            <p:ph type="dt" sz="half" idx="10"/>
          </p:nvPr>
        </p:nvSpPr>
        <p:spPr/>
        <p:txBody>
          <a:bodyPr/>
          <a:lstStyle/>
          <a:p>
            <a:fld id="{A827FEC9-637A-D746-B3AD-21140ABBEEFB}" type="datetimeFigureOut">
              <a:rPr lang="en-US" smtClean="0"/>
              <a:t>7/1/24</a:t>
            </a:fld>
            <a:endParaRPr lang="en-US"/>
          </a:p>
        </p:txBody>
      </p:sp>
      <p:sp>
        <p:nvSpPr>
          <p:cNvPr id="5" name="Footer Placeholder 4">
            <a:extLst>
              <a:ext uri="{FF2B5EF4-FFF2-40B4-BE49-F238E27FC236}">
                <a16:creationId xmlns:a16="http://schemas.microsoft.com/office/drawing/2014/main" id="{5A1D4A83-AA7C-A0B9-519D-24CF673AE9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E036DF-E6FB-EF2D-CBB3-6116171EF882}"/>
              </a:ext>
            </a:extLst>
          </p:cNvPr>
          <p:cNvSpPr>
            <a:spLocks noGrp="1"/>
          </p:cNvSpPr>
          <p:nvPr>
            <p:ph type="sldNum" sz="quarter" idx="12"/>
          </p:nvPr>
        </p:nvSpPr>
        <p:spPr/>
        <p:txBody>
          <a:bodyPr/>
          <a:lstStyle/>
          <a:p>
            <a:fld id="{73D2A1E2-E90F-C44F-A45B-03BA6BBB6618}" type="slidenum">
              <a:rPr lang="en-US" smtClean="0"/>
              <a:t>‹#›</a:t>
            </a:fld>
            <a:endParaRPr lang="en-US"/>
          </a:p>
        </p:txBody>
      </p:sp>
    </p:spTree>
    <p:extLst>
      <p:ext uri="{BB962C8B-B14F-4D97-AF65-F5344CB8AC3E}">
        <p14:creationId xmlns:p14="http://schemas.microsoft.com/office/powerpoint/2010/main" val="4097197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DFAA9-50D7-463B-D870-9857712C7AC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39D53DA-BF69-6B4D-5682-D10B73D939A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98A5AA6-EA42-B129-97DA-39EFCA382783}"/>
              </a:ext>
            </a:extLst>
          </p:cNvPr>
          <p:cNvSpPr>
            <a:spLocks noGrp="1"/>
          </p:cNvSpPr>
          <p:nvPr>
            <p:ph type="dt" sz="half" idx="10"/>
          </p:nvPr>
        </p:nvSpPr>
        <p:spPr/>
        <p:txBody>
          <a:bodyPr/>
          <a:lstStyle/>
          <a:p>
            <a:fld id="{A827FEC9-637A-D746-B3AD-21140ABBEEFB}" type="datetimeFigureOut">
              <a:rPr lang="en-US" smtClean="0"/>
              <a:t>7/1/24</a:t>
            </a:fld>
            <a:endParaRPr lang="en-US"/>
          </a:p>
        </p:txBody>
      </p:sp>
      <p:sp>
        <p:nvSpPr>
          <p:cNvPr id="5" name="Footer Placeholder 4">
            <a:extLst>
              <a:ext uri="{FF2B5EF4-FFF2-40B4-BE49-F238E27FC236}">
                <a16:creationId xmlns:a16="http://schemas.microsoft.com/office/drawing/2014/main" id="{A05E846B-EAEE-6D39-18C2-B0578A174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ABEA30-7FCB-86E5-8FEF-72591BCA0068}"/>
              </a:ext>
            </a:extLst>
          </p:cNvPr>
          <p:cNvSpPr>
            <a:spLocks noGrp="1"/>
          </p:cNvSpPr>
          <p:nvPr>
            <p:ph type="sldNum" sz="quarter" idx="12"/>
          </p:nvPr>
        </p:nvSpPr>
        <p:spPr/>
        <p:txBody>
          <a:bodyPr/>
          <a:lstStyle/>
          <a:p>
            <a:fld id="{73D2A1E2-E90F-C44F-A45B-03BA6BBB6618}" type="slidenum">
              <a:rPr lang="en-US" smtClean="0"/>
              <a:t>‹#›</a:t>
            </a:fld>
            <a:endParaRPr lang="en-US"/>
          </a:p>
        </p:txBody>
      </p:sp>
    </p:spTree>
    <p:extLst>
      <p:ext uri="{BB962C8B-B14F-4D97-AF65-F5344CB8AC3E}">
        <p14:creationId xmlns:p14="http://schemas.microsoft.com/office/powerpoint/2010/main" val="1535333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842D2-6CFE-C010-0459-3E2DB7B942C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1D0B155-8448-9ADA-4823-1C9F73F30D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7B893CC-4B17-85C3-E8B3-F656F5655B56}"/>
              </a:ext>
            </a:extLst>
          </p:cNvPr>
          <p:cNvSpPr>
            <a:spLocks noGrp="1"/>
          </p:cNvSpPr>
          <p:nvPr>
            <p:ph type="dt" sz="half" idx="10"/>
          </p:nvPr>
        </p:nvSpPr>
        <p:spPr/>
        <p:txBody>
          <a:bodyPr/>
          <a:lstStyle/>
          <a:p>
            <a:fld id="{A827FEC9-637A-D746-B3AD-21140ABBEEFB}" type="datetimeFigureOut">
              <a:rPr lang="en-US" smtClean="0"/>
              <a:t>7/1/24</a:t>
            </a:fld>
            <a:endParaRPr lang="en-US"/>
          </a:p>
        </p:txBody>
      </p:sp>
      <p:sp>
        <p:nvSpPr>
          <p:cNvPr id="5" name="Footer Placeholder 4">
            <a:extLst>
              <a:ext uri="{FF2B5EF4-FFF2-40B4-BE49-F238E27FC236}">
                <a16:creationId xmlns:a16="http://schemas.microsoft.com/office/drawing/2014/main" id="{2FD6244F-642C-FDFE-0C6D-4F4922267F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75BD09-5380-50FC-2890-B9DC6627CA05}"/>
              </a:ext>
            </a:extLst>
          </p:cNvPr>
          <p:cNvSpPr>
            <a:spLocks noGrp="1"/>
          </p:cNvSpPr>
          <p:nvPr>
            <p:ph type="sldNum" sz="quarter" idx="12"/>
          </p:nvPr>
        </p:nvSpPr>
        <p:spPr/>
        <p:txBody>
          <a:bodyPr/>
          <a:lstStyle/>
          <a:p>
            <a:fld id="{73D2A1E2-E90F-C44F-A45B-03BA6BBB6618}" type="slidenum">
              <a:rPr lang="en-US" smtClean="0"/>
              <a:t>‹#›</a:t>
            </a:fld>
            <a:endParaRPr lang="en-US"/>
          </a:p>
        </p:txBody>
      </p:sp>
    </p:spTree>
    <p:extLst>
      <p:ext uri="{BB962C8B-B14F-4D97-AF65-F5344CB8AC3E}">
        <p14:creationId xmlns:p14="http://schemas.microsoft.com/office/powerpoint/2010/main" val="2264559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C135C-B819-797D-7ADE-88584CC394F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87EFDE9-55A4-0E9E-9039-F4B77F3AC1B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F770454-02E7-5070-D020-D08B8EF1DE0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1C4E252-3ACB-FFF6-B5B0-18904FD167AF}"/>
              </a:ext>
            </a:extLst>
          </p:cNvPr>
          <p:cNvSpPr>
            <a:spLocks noGrp="1"/>
          </p:cNvSpPr>
          <p:nvPr>
            <p:ph type="dt" sz="half" idx="10"/>
          </p:nvPr>
        </p:nvSpPr>
        <p:spPr/>
        <p:txBody>
          <a:bodyPr/>
          <a:lstStyle/>
          <a:p>
            <a:fld id="{A827FEC9-637A-D746-B3AD-21140ABBEEFB}" type="datetimeFigureOut">
              <a:rPr lang="en-US" smtClean="0"/>
              <a:t>7/1/24</a:t>
            </a:fld>
            <a:endParaRPr lang="en-US"/>
          </a:p>
        </p:txBody>
      </p:sp>
      <p:sp>
        <p:nvSpPr>
          <p:cNvPr id="6" name="Footer Placeholder 5">
            <a:extLst>
              <a:ext uri="{FF2B5EF4-FFF2-40B4-BE49-F238E27FC236}">
                <a16:creationId xmlns:a16="http://schemas.microsoft.com/office/drawing/2014/main" id="{BA5EDB10-2908-7313-5428-CD7A5C0CAA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65118F-BD2F-4A57-A54B-65E6EE33F22A}"/>
              </a:ext>
            </a:extLst>
          </p:cNvPr>
          <p:cNvSpPr>
            <a:spLocks noGrp="1"/>
          </p:cNvSpPr>
          <p:nvPr>
            <p:ph type="sldNum" sz="quarter" idx="12"/>
          </p:nvPr>
        </p:nvSpPr>
        <p:spPr/>
        <p:txBody>
          <a:bodyPr/>
          <a:lstStyle/>
          <a:p>
            <a:fld id="{73D2A1E2-E90F-C44F-A45B-03BA6BBB6618}" type="slidenum">
              <a:rPr lang="en-US" smtClean="0"/>
              <a:t>‹#›</a:t>
            </a:fld>
            <a:endParaRPr lang="en-US"/>
          </a:p>
        </p:txBody>
      </p:sp>
    </p:spTree>
    <p:extLst>
      <p:ext uri="{BB962C8B-B14F-4D97-AF65-F5344CB8AC3E}">
        <p14:creationId xmlns:p14="http://schemas.microsoft.com/office/powerpoint/2010/main" val="575981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3D6AD-7629-F18D-1177-415C8A7B8D0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B2327D-DF1B-49D9-E9D8-074CABAA23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CB6BEF5-412F-D393-8E81-CC2F59F973C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E865C3A-0517-B126-1976-0B582344CE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791187E-7AF2-A9D3-F1E2-788AD2F0FE0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5B5B487-449D-4B29-733F-905DDC0DB5A9}"/>
              </a:ext>
            </a:extLst>
          </p:cNvPr>
          <p:cNvSpPr>
            <a:spLocks noGrp="1"/>
          </p:cNvSpPr>
          <p:nvPr>
            <p:ph type="dt" sz="half" idx="10"/>
          </p:nvPr>
        </p:nvSpPr>
        <p:spPr/>
        <p:txBody>
          <a:bodyPr/>
          <a:lstStyle/>
          <a:p>
            <a:fld id="{A827FEC9-637A-D746-B3AD-21140ABBEEFB}" type="datetimeFigureOut">
              <a:rPr lang="en-US" smtClean="0"/>
              <a:t>7/1/24</a:t>
            </a:fld>
            <a:endParaRPr lang="en-US"/>
          </a:p>
        </p:txBody>
      </p:sp>
      <p:sp>
        <p:nvSpPr>
          <p:cNvPr id="8" name="Footer Placeholder 7">
            <a:extLst>
              <a:ext uri="{FF2B5EF4-FFF2-40B4-BE49-F238E27FC236}">
                <a16:creationId xmlns:a16="http://schemas.microsoft.com/office/drawing/2014/main" id="{E8CC7543-EA53-9145-2A8A-AED896444A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0627AD-9946-5968-220A-36722C7ABFFD}"/>
              </a:ext>
            </a:extLst>
          </p:cNvPr>
          <p:cNvSpPr>
            <a:spLocks noGrp="1"/>
          </p:cNvSpPr>
          <p:nvPr>
            <p:ph type="sldNum" sz="quarter" idx="12"/>
          </p:nvPr>
        </p:nvSpPr>
        <p:spPr/>
        <p:txBody>
          <a:bodyPr/>
          <a:lstStyle/>
          <a:p>
            <a:fld id="{73D2A1E2-E90F-C44F-A45B-03BA6BBB6618}" type="slidenum">
              <a:rPr lang="en-US" smtClean="0"/>
              <a:t>‹#›</a:t>
            </a:fld>
            <a:endParaRPr lang="en-US"/>
          </a:p>
        </p:txBody>
      </p:sp>
    </p:spTree>
    <p:extLst>
      <p:ext uri="{BB962C8B-B14F-4D97-AF65-F5344CB8AC3E}">
        <p14:creationId xmlns:p14="http://schemas.microsoft.com/office/powerpoint/2010/main" val="2261066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13770-F4E9-09E9-37DE-DC4E6183F49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F7580289-681A-FAE7-32C0-550E82564F05}"/>
              </a:ext>
            </a:extLst>
          </p:cNvPr>
          <p:cNvSpPr>
            <a:spLocks noGrp="1"/>
          </p:cNvSpPr>
          <p:nvPr>
            <p:ph type="dt" sz="half" idx="10"/>
          </p:nvPr>
        </p:nvSpPr>
        <p:spPr/>
        <p:txBody>
          <a:bodyPr/>
          <a:lstStyle/>
          <a:p>
            <a:fld id="{A827FEC9-637A-D746-B3AD-21140ABBEEFB}" type="datetimeFigureOut">
              <a:rPr lang="en-US" smtClean="0"/>
              <a:t>7/1/24</a:t>
            </a:fld>
            <a:endParaRPr lang="en-US"/>
          </a:p>
        </p:txBody>
      </p:sp>
      <p:sp>
        <p:nvSpPr>
          <p:cNvPr id="4" name="Footer Placeholder 3">
            <a:extLst>
              <a:ext uri="{FF2B5EF4-FFF2-40B4-BE49-F238E27FC236}">
                <a16:creationId xmlns:a16="http://schemas.microsoft.com/office/drawing/2014/main" id="{E32F5611-F038-9296-E1BD-4B39F63C0C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23756F-E271-2D11-4684-08FDEC0A3EB1}"/>
              </a:ext>
            </a:extLst>
          </p:cNvPr>
          <p:cNvSpPr>
            <a:spLocks noGrp="1"/>
          </p:cNvSpPr>
          <p:nvPr>
            <p:ph type="sldNum" sz="quarter" idx="12"/>
          </p:nvPr>
        </p:nvSpPr>
        <p:spPr/>
        <p:txBody>
          <a:bodyPr/>
          <a:lstStyle/>
          <a:p>
            <a:fld id="{73D2A1E2-E90F-C44F-A45B-03BA6BBB6618}" type="slidenum">
              <a:rPr lang="en-US" smtClean="0"/>
              <a:t>‹#›</a:t>
            </a:fld>
            <a:endParaRPr lang="en-US"/>
          </a:p>
        </p:txBody>
      </p:sp>
    </p:spTree>
    <p:extLst>
      <p:ext uri="{BB962C8B-B14F-4D97-AF65-F5344CB8AC3E}">
        <p14:creationId xmlns:p14="http://schemas.microsoft.com/office/powerpoint/2010/main" val="2458499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D27A10-D39C-E829-E021-E937249E5ED0}"/>
              </a:ext>
            </a:extLst>
          </p:cNvPr>
          <p:cNvSpPr>
            <a:spLocks noGrp="1"/>
          </p:cNvSpPr>
          <p:nvPr>
            <p:ph type="dt" sz="half" idx="10"/>
          </p:nvPr>
        </p:nvSpPr>
        <p:spPr/>
        <p:txBody>
          <a:bodyPr/>
          <a:lstStyle/>
          <a:p>
            <a:fld id="{A827FEC9-637A-D746-B3AD-21140ABBEEFB}" type="datetimeFigureOut">
              <a:rPr lang="en-US" smtClean="0"/>
              <a:t>7/1/24</a:t>
            </a:fld>
            <a:endParaRPr lang="en-US"/>
          </a:p>
        </p:txBody>
      </p:sp>
      <p:sp>
        <p:nvSpPr>
          <p:cNvPr id="3" name="Footer Placeholder 2">
            <a:extLst>
              <a:ext uri="{FF2B5EF4-FFF2-40B4-BE49-F238E27FC236}">
                <a16:creationId xmlns:a16="http://schemas.microsoft.com/office/drawing/2014/main" id="{1138459A-5907-1197-2670-8DE68BA96E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277DAA-2295-F5B4-026D-8E02B55D594B}"/>
              </a:ext>
            </a:extLst>
          </p:cNvPr>
          <p:cNvSpPr>
            <a:spLocks noGrp="1"/>
          </p:cNvSpPr>
          <p:nvPr>
            <p:ph type="sldNum" sz="quarter" idx="12"/>
          </p:nvPr>
        </p:nvSpPr>
        <p:spPr/>
        <p:txBody>
          <a:bodyPr/>
          <a:lstStyle/>
          <a:p>
            <a:fld id="{73D2A1E2-E90F-C44F-A45B-03BA6BBB6618}" type="slidenum">
              <a:rPr lang="en-US" smtClean="0"/>
              <a:t>‹#›</a:t>
            </a:fld>
            <a:endParaRPr lang="en-US"/>
          </a:p>
        </p:txBody>
      </p:sp>
    </p:spTree>
    <p:extLst>
      <p:ext uri="{BB962C8B-B14F-4D97-AF65-F5344CB8AC3E}">
        <p14:creationId xmlns:p14="http://schemas.microsoft.com/office/powerpoint/2010/main" val="2613782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91C3-2321-B695-2F9A-F98169D5D35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1DFE963-7EA1-32F5-5DAC-5DC1245025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79DB846-973C-5307-C7E6-31F11CD48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3E7F425-ACCD-DC6F-40A2-920626F683D4}"/>
              </a:ext>
            </a:extLst>
          </p:cNvPr>
          <p:cNvSpPr>
            <a:spLocks noGrp="1"/>
          </p:cNvSpPr>
          <p:nvPr>
            <p:ph type="dt" sz="half" idx="10"/>
          </p:nvPr>
        </p:nvSpPr>
        <p:spPr/>
        <p:txBody>
          <a:bodyPr/>
          <a:lstStyle/>
          <a:p>
            <a:fld id="{A827FEC9-637A-D746-B3AD-21140ABBEEFB}" type="datetimeFigureOut">
              <a:rPr lang="en-US" smtClean="0"/>
              <a:t>7/1/24</a:t>
            </a:fld>
            <a:endParaRPr lang="en-US"/>
          </a:p>
        </p:txBody>
      </p:sp>
      <p:sp>
        <p:nvSpPr>
          <p:cNvPr id="6" name="Footer Placeholder 5">
            <a:extLst>
              <a:ext uri="{FF2B5EF4-FFF2-40B4-BE49-F238E27FC236}">
                <a16:creationId xmlns:a16="http://schemas.microsoft.com/office/drawing/2014/main" id="{06E28262-8B68-172D-1A5A-65A18394AC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BE403E-C1AC-93CC-DE5C-2C5A6AE9F392}"/>
              </a:ext>
            </a:extLst>
          </p:cNvPr>
          <p:cNvSpPr>
            <a:spLocks noGrp="1"/>
          </p:cNvSpPr>
          <p:nvPr>
            <p:ph type="sldNum" sz="quarter" idx="12"/>
          </p:nvPr>
        </p:nvSpPr>
        <p:spPr/>
        <p:txBody>
          <a:bodyPr/>
          <a:lstStyle/>
          <a:p>
            <a:fld id="{73D2A1E2-E90F-C44F-A45B-03BA6BBB6618}" type="slidenum">
              <a:rPr lang="en-US" smtClean="0"/>
              <a:t>‹#›</a:t>
            </a:fld>
            <a:endParaRPr lang="en-US"/>
          </a:p>
        </p:txBody>
      </p:sp>
    </p:spTree>
    <p:extLst>
      <p:ext uri="{BB962C8B-B14F-4D97-AF65-F5344CB8AC3E}">
        <p14:creationId xmlns:p14="http://schemas.microsoft.com/office/powerpoint/2010/main" val="3459692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95A81-DB9C-F690-1431-407195C36DD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D00F71C-3030-0AF0-C969-FE24860F70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19A2B99-8CCE-48DA-B514-70BD6643BD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40CD590-25FE-A0CE-5DA2-C2EEA975EC0E}"/>
              </a:ext>
            </a:extLst>
          </p:cNvPr>
          <p:cNvSpPr>
            <a:spLocks noGrp="1"/>
          </p:cNvSpPr>
          <p:nvPr>
            <p:ph type="dt" sz="half" idx="10"/>
          </p:nvPr>
        </p:nvSpPr>
        <p:spPr/>
        <p:txBody>
          <a:bodyPr/>
          <a:lstStyle/>
          <a:p>
            <a:fld id="{A827FEC9-637A-D746-B3AD-21140ABBEEFB}" type="datetimeFigureOut">
              <a:rPr lang="en-US" smtClean="0"/>
              <a:t>7/1/24</a:t>
            </a:fld>
            <a:endParaRPr lang="en-US"/>
          </a:p>
        </p:txBody>
      </p:sp>
      <p:sp>
        <p:nvSpPr>
          <p:cNvPr id="6" name="Footer Placeholder 5">
            <a:extLst>
              <a:ext uri="{FF2B5EF4-FFF2-40B4-BE49-F238E27FC236}">
                <a16:creationId xmlns:a16="http://schemas.microsoft.com/office/drawing/2014/main" id="{0B4DD9D4-CA32-963B-3F81-5C7E75A9D5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CBD956-2B7D-B03C-0A79-DB8EDCD71963}"/>
              </a:ext>
            </a:extLst>
          </p:cNvPr>
          <p:cNvSpPr>
            <a:spLocks noGrp="1"/>
          </p:cNvSpPr>
          <p:nvPr>
            <p:ph type="sldNum" sz="quarter" idx="12"/>
          </p:nvPr>
        </p:nvSpPr>
        <p:spPr/>
        <p:txBody>
          <a:bodyPr/>
          <a:lstStyle/>
          <a:p>
            <a:fld id="{73D2A1E2-E90F-C44F-A45B-03BA6BBB6618}" type="slidenum">
              <a:rPr lang="en-US" smtClean="0"/>
              <a:t>‹#›</a:t>
            </a:fld>
            <a:endParaRPr lang="en-US"/>
          </a:p>
        </p:txBody>
      </p:sp>
    </p:spTree>
    <p:extLst>
      <p:ext uri="{BB962C8B-B14F-4D97-AF65-F5344CB8AC3E}">
        <p14:creationId xmlns:p14="http://schemas.microsoft.com/office/powerpoint/2010/main" val="2644785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EE0FB-15B2-26BC-3756-9E6999C4057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171A07B-66D8-C98F-DD56-D132A809DBB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52271E8-BAA3-A1CA-4B5D-2D1F8E0E0FEE}"/>
              </a:ext>
            </a:extLst>
          </p:cNvPr>
          <p:cNvSpPr>
            <a:spLocks noGrp="1"/>
          </p:cNvSpPr>
          <p:nvPr>
            <p:ph type="dt" sz="half" idx="10"/>
          </p:nvPr>
        </p:nvSpPr>
        <p:spPr/>
        <p:txBody>
          <a:bodyPr/>
          <a:lstStyle/>
          <a:p>
            <a:fld id="{A827FEC9-637A-D746-B3AD-21140ABBEEFB}" type="datetimeFigureOut">
              <a:rPr lang="en-US" smtClean="0"/>
              <a:t>7/1/24</a:t>
            </a:fld>
            <a:endParaRPr lang="en-US"/>
          </a:p>
        </p:txBody>
      </p:sp>
      <p:sp>
        <p:nvSpPr>
          <p:cNvPr id="5" name="Footer Placeholder 4">
            <a:extLst>
              <a:ext uri="{FF2B5EF4-FFF2-40B4-BE49-F238E27FC236}">
                <a16:creationId xmlns:a16="http://schemas.microsoft.com/office/drawing/2014/main" id="{03477A3A-1A83-F8EA-32B3-C2FF6E7B34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C1F403-C139-A07A-10D6-6666682FA115}"/>
              </a:ext>
            </a:extLst>
          </p:cNvPr>
          <p:cNvSpPr>
            <a:spLocks noGrp="1"/>
          </p:cNvSpPr>
          <p:nvPr>
            <p:ph type="sldNum" sz="quarter" idx="12"/>
          </p:nvPr>
        </p:nvSpPr>
        <p:spPr/>
        <p:txBody>
          <a:bodyPr/>
          <a:lstStyle/>
          <a:p>
            <a:fld id="{73D2A1E2-E90F-C44F-A45B-03BA6BBB6618}" type="slidenum">
              <a:rPr lang="en-US" smtClean="0"/>
              <a:t>‹#›</a:t>
            </a:fld>
            <a:endParaRPr lang="en-US"/>
          </a:p>
        </p:txBody>
      </p:sp>
    </p:spTree>
    <p:extLst>
      <p:ext uri="{BB962C8B-B14F-4D97-AF65-F5344CB8AC3E}">
        <p14:creationId xmlns:p14="http://schemas.microsoft.com/office/powerpoint/2010/main" val="1046677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C739E7-1858-0D19-BF35-97A125E5C8D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15B86F2-5E0B-9DBF-F21D-33ED188632C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B9FF134-F41F-711F-FCBD-B38AFD0522CA}"/>
              </a:ext>
            </a:extLst>
          </p:cNvPr>
          <p:cNvSpPr>
            <a:spLocks noGrp="1"/>
          </p:cNvSpPr>
          <p:nvPr>
            <p:ph type="dt" sz="half" idx="10"/>
          </p:nvPr>
        </p:nvSpPr>
        <p:spPr/>
        <p:txBody>
          <a:bodyPr/>
          <a:lstStyle/>
          <a:p>
            <a:fld id="{A827FEC9-637A-D746-B3AD-21140ABBEEFB}" type="datetimeFigureOut">
              <a:rPr lang="en-US" smtClean="0"/>
              <a:t>7/1/24</a:t>
            </a:fld>
            <a:endParaRPr lang="en-US"/>
          </a:p>
        </p:txBody>
      </p:sp>
      <p:sp>
        <p:nvSpPr>
          <p:cNvPr id="5" name="Footer Placeholder 4">
            <a:extLst>
              <a:ext uri="{FF2B5EF4-FFF2-40B4-BE49-F238E27FC236}">
                <a16:creationId xmlns:a16="http://schemas.microsoft.com/office/drawing/2014/main" id="{4AACAAA9-ED1F-EC1A-EAF3-045BD7D48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9FC6D6-2B1B-7F73-F279-F2BA5B45B3D4}"/>
              </a:ext>
            </a:extLst>
          </p:cNvPr>
          <p:cNvSpPr>
            <a:spLocks noGrp="1"/>
          </p:cNvSpPr>
          <p:nvPr>
            <p:ph type="sldNum" sz="quarter" idx="12"/>
          </p:nvPr>
        </p:nvSpPr>
        <p:spPr/>
        <p:txBody>
          <a:bodyPr/>
          <a:lstStyle/>
          <a:p>
            <a:fld id="{73D2A1E2-E90F-C44F-A45B-03BA6BBB6618}" type="slidenum">
              <a:rPr lang="en-US" smtClean="0"/>
              <a:t>‹#›</a:t>
            </a:fld>
            <a:endParaRPr lang="en-US"/>
          </a:p>
        </p:txBody>
      </p:sp>
    </p:spTree>
    <p:extLst>
      <p:ext uri="{BB962C8B-B14F-4D97-AF65-F5344CB8AC3E}">
        <p14:creationId xmlns:p14="http://schemas.microsoft.com/office/powerpoint/2010/main" val="2060094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10AB1C-AC78-0D07-2A61-D9D937D670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28FEF08-2EDC-DA35-4992-4FB8829680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87ECCE3-120A-4650-F40D-FA932B078F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27FEC9-637A-D746-B3AD-21140ABBEEFB}" type="datetimeFigureOut">
              <a:rPr lang="en-US" smtClean="0"/>
              <a:t>7/1/24</a:t>
            </a:fld>
            <a:endParaRPr lang="en-US"/>
          </a:p>
        </p:txBody>
      </p:sp>
      <p:sp>
        <p:nvSpPr>
          <p:cNvPr id="5" name="Footer Placeholder 4">
            <a:extLst>
              <a:ext uri="{FF2B5EF4-FFF2-40B4-BE49-F238E27FC236}">
                <a16:creationId xmlns:a16="http://schemas.microsoft.com/office/drawing/2014/main" id="{20361148-2ECB-7BAC-0A57-A220871AF4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CD5C1EF-FBAD-F612-FEB0-723CD11FF7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D2A1E2-E90F-C44F-A45B-03BA6BBB6618}" type="slidenum">
              <a:rPr lang="en-US" smtClean="0"/>
              <a:t>‹#›</a:t>
            </a:fld>
            <a:endParaRPr lang="en-US"/>
          </a:p>
        </p:txBody>
      </p:sp>
    </p:spTree>
    <p:extLst>
      <p:ext uri="{BB962C8B-B14F-4D97-AF65-F5344CB8AC3E}">
        <p14:creationId xmlns:p14="http://schemas.microsoft.com/office/powerpoint/2010/main" val="13913198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640080" y="325369"/>
            <a:ext cx="4368602" cy="1956841"/>
          </a:xfrm>
        </p:spPr>
        <p:txBody>
          <a:bodyPr anchor="b">
            <a:normAutofit/>
          </a:bodyPr>
          <a:lstStyle/>
          <a:p>
            <a:r>
              <a:rPr lang="en-US" sz="4200" b="1">
                <a:latin typeface="Times New Roman" panose="02020503050405090304" pitchFamily="18" charset="0"/>
                <a:cs typeface="Times New Roman" panose="02020503050405090304" pitchFamily="18" charset="0"/>
              </a:rPr>
              <a:t>Assessment 1 Weight Loss Method</a:t>
            </a:r>
          </a:p>
        </p:txBody>
      </p:sp>
      <p:sp>
        <p:nvSpPr>
          <p:cNvPr id="103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640080" y="2872899"/>
            <a:ext cx="4243589" cy="3320668"/>
          </a:xfrm>
        </p:spPr>
        <p:txBody>
          <a:bodyPr>
            <a:normAutofit/>
          </a:bodyPr>
          <a:lstStyle/>
          <a:p>
            <a:pPr indent="0">
              <a:spcAft>
                <a:spcPts val="800"/>
              </a:spcAft>
              <a:buNone/>
            </a:pPr>
            <a:r>
              <a:rPr lang="en-US" altLang="zh-CN" sz="2200" kern="100">
                <a:latin typeface="Times New Roman" panose="02020503050405090304" pitchFamily="18" charset="0"/>
                <a:cs typeface="Times New Roman" panose="02020503050405090304" pitchFamily="18" charset="0"/>
              </a:rPr>
              <a:t>(Blair)</a:t>
            </a:r>
            <a:r>
              <a:rPr lang="zh-CN" altLang="en-US" sz="2200" kern="100">
                <a:latin typeface="Times New Roman" panose="02020503050405090304" pitchFamily="18" charset="0"/>
                <a:cs typeface="Times New Roman" panose="02020503050405090304" pitchFamily="18" charset="0"/>
              </a:rPr>
              <a:t> </a:t>
            </a:r>
            <a:r>
              <a:rPr lang="en-US" altLang="zh-CN" sz="2200" kern="100">
                <a:latin typeface="Times New Roman" panose="02020503050405090304" pitchFamily="18" charset="0"/>
                <a:cs typeface="Times New Roman" panose="02020503050405090304" pitchFamily="18" charset="0"/>
              </a:rPr>
              <a:t>Chuanhui</a:t>
            </a:r>
            <a:r>
              <a:rPr lang="zh-CN" altLang="en-US" sz="2200" kern="100">
                <a:latin typeface="Times New Roman" panose="02020503050405090304" pitchFamily="18" charset="0"/>
                <a:cs typeface="Times New Roman" panose="02020503050405090304" pitchFamily="18" charset="0"/>
              </a:rPr>
              <a:t> </a:t>
            </a:r>
            <a:r>
              <a:rPr lang="en-US" altLang="zh-CN" sz="2200" kern="100">
                <a:latin typeface="Times New Roman" panose="02020503050405090304" pitchFamily="18" charset="0"/>
                <a:cs typeface="Times New Roman" panose="02020503050405090304" pitchFamily="18" charset="0"/>
              </a:rPr>
              <a:t>Zheng</a:t>
            </a:r>
          </a:p>
          <a:p>
            <a:pPr indent="0">
              <a:spcAft>
                <a:spcPts val="800"/>
              </a:spcAft>
              <a:buNone/>
            </a:pPr>
            <a:r>
              <a:rPr lang="en-US" altLang="zh-CN" sz="2200" kern="100">
                <a:latin typeface="Times New Roman" panose="02020503050405090304" pitchFamily="18" charset="0"/>
                <a:cs typeface="Times New Roman" panose="02020503050405090304" pitchFamily="18" charset="0"/>
              </a:rPr>
              <a:t>Big</a:t>
            </a:r>
            <a:r>
              <a:rPr lang="zh-CN" altLang="en-US" sz="2200" kern="100">
                <a:latin typeface="Times New Roman" panose="02020503050405090304" pitchFamily="18" charset="0"/>
                <a:cs typeface="Times New Roman" panose="02020503050405090304" pitchFamily="18" charset="0"/>
              </a:rPr>
              <a:t> </a:t>
            </a:r>
            <a:r>
              <a:rPr lang="en-US" altLang="zh-CN" sz="2200" kern="100">
                <a:latin typeface="Times New Roman" panose="02020503050405090304" pitchFamily="18" charset="0"/>
                <a:cs typeface="Times New Roman" panose="02020503050405090304" pitchFamily="18" charset="0"/>
              </a:rPr>
              <a:t>Fat</a:t>
            </a:r>
            <a:r>
              <a:rPr lang="zh-CN" altLang="en-US" sz="2200" kern="100">
                <a:latin typeface="Times New Roman" panose="02020503050405090304" pitchFamily="18" charset="0"/>
                <a:cs typeface="Times New Roman" panose="02020503050405090304" pitchFamily="18" charset="0"/>
              </a:rPr>
              <a:t> </a:t>
            </a:r>
            <a:r>
              <a:rPr lang="en-US" altLang="zh-CN" sz="2200" kern="100">
                <a:latin typeface="Times New Roman" panose="02020503050405090304" pitchFamily="18" charset="0"/>
                <a:cs typeface="Times New Roman" panose="02020503050405090304" pitchFamily="18" charset="0"/>
              </a:rPr>
              <a:t>Myths</a:t>
            </a:r>
            <a:r>
              <a:rPr lang="zh-CN" altLang="en-US" sz="2200" kern="100">
                <a:latin typeface="Times New Roman" panose="02020503050405090304" pitchFamily="18" charset="0"/>
                <a:cs typeface="Times New Roman" panose="02020503050405090304" pitchFamily="18" charset="0"/>
              </a:rPr>
              <a:t> </a:t>
            </a:r>
            <a:r>
              <a:rPr lang="en-US" altLang="zh-CN" sz="2200" kern="100">
                <a:latin typeface="Times New Roman" panose="02020503050405090304" pitchFamily="18" charset="0"/>
                <a:cs typeface="Times New Roman" panose="02020503050405090304" pitchFamily="18" charset="0"/>
              </a:rPr>
              <a:t>Gens1111</a:t>
            </a:r>
            <a:endParaRPr lang="x-none" sz="2200"/>
          </a:p>
        </p:txBody>
      </p:sp>
      <p:pic>
        <p:nvPicPr>
          <p:cNvPr id="1026" name="Picture 2" descr="A table full of food&#10;&#10;Description automatically generated">
            <a:extLst>
              <a:ext uri="{FF2B5EF4-FFF2-40B4-BE49-F238E27FC236}">
                <a16:creationId xmlns:a16="http://schemas.microsoft.com/office/drawing/2014/main" id="{0EBDAD1B-04A0-54D3-313F-F7A6401EF2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385" r="20164" b="-1"/>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561A024-E053-F3E4-1C3B-D5A734FC9B51}"/>
              </a:ext>
            </a:extLst>
          </p:cNvPr>
          <p:cNvSpPr txBox="1"/>
          <p:nvPr/>
        </p:nvSpPr>
        <p:spPr>
          <a:xfrm>
            <a:off x="671146" y="582042"/>
            <a:ext cx="10849708" cy="1115947"/>
          </a:xfrm>
          <a:prstGeom prst="rect">
            <a:avLst/>
          </a:prstGeom>
        </p:spPr>
        <p:txBody>
          <a:bodyPr vert="horz" lIns="91440" tIns="45720" rIns="91440" bIns="45720" rtlCol="0" anchor="t">
            <a:normAutofit/>
          </a:bodyPr>
          <a:lstStyle>
            <a:defPPr>
              <a:defRPr lang="en-US"/>
            </a:defPPr>
            <a:lvl1pPr lvl="0" indent="0">
              <a:lnSpc>
                <a:spcPct val="90000"/>
              </a:lnSpc>
              <a:spcBef>
                <a:spcPct val="0"/>
              </a:spcBef>
              <a:spcAft>
                <a:spcPts val="600"/>
              </a:spcAft>
              <a:tabLst>
                <a:tab pos="228600" algn="l"/>
                <a:tab pos="457200" algn="l"/>
              </a:tabLst>
              <a:defRPr sz="2800" b="1">
                <a:solidFill>
                  <a:schemeClr val="bg1"/>
                </a:solidFill>
                <a:latin typeface="+mj-lt"/>
                <a:ea typeface="+mj-ea"/>
                <a:cs typeface="+mj-cs"/>
              </a:defRPr>
            </a:lvl1pPr>
          </a:lstStyle>
          <a:p>
            <a:r>
              <a:rPr lang="en-US" dirty="0"/>
              <a:t>Description and how the drug works: Describe the drug: when was it discovered, who should use the drug and at what dosage (3 marks)</a:t>
            </a:r>
            <a:endParaRPr lang="en-AU" dirty="0"/>
          </a:p>
        </p:txBody>
      </p:sp>
      <p:sp>
        <p:nvSpPr>
          <p:cNvPr id="7" name="Content Placeholder 2">
            <a:extLst>
              <a:ext uri="{FF2B5EF4-FFF2-40B4-BE49-F238E27FC236}">
                <a16:creationId xmlns:a16="http://schemas.microsoft.com/office/drawing/2014/main" id="{EA864EF6-7828-E329-B14F-D92B73BA2038}"/>
              </a:ext>
            </a:extLst>
          </p:cNvPr>
          <p:cNvSpPr>
            <a:spLocks noGrp="1"/>
          </p:cNvSpPr>
          <p:nvPr>
            <p:ph idx="1"/>
          </p:nvPr>
        </p:nvSpPr>
        <p:spPr>
          <a:xfrm>
            <a:off x="942007" y="2730036"/>
            <a:ext cx="9977597" cy="4450081"/>
          </a:xfrm>
        </p:spPr>
        <p:txBody>
          <a:bodyPr vert="horz" lIns="91440" tIns="45720" rIns="91440" bIns="45720" rtlCol="0">
            <a:normAutofit/>
          </a:bodyPr>
          <a:lstStyle/>
          <a:p>
            <a:pPr>
              <a:spcAft>
                <a:spcPts val="800"/>
              </a:spcAft>
            </a:pPr>
            <a:r>
              <a:rPr lang="en-GB" sz="2400" dirty="0"/>
              <a:t>	In 2012, Arena Pharmaceuticals released </a:t>
            </a:r>
            <a:r>
              <a:rPr lang="en-GB" sz="2400" dirty="0" err="1"/>
              <a:t>Lorcaserin</a:t>
            </a:r>
            <a:r>
              <a:rPr lang="en-GB" sz="2400" dirty="0"/>
              <a:t> as a weight-loss drug. The drug is mainly designed for the obese population, particularly those patients with a Body Mass Index (BMI) of 30 and above. Also, </a:t>
            </a:r>
            <a:r>
              <a:rPr lang="en-GB" sz="2400" dirty="0" err="1"/>
              <a:t>Lorcaserin</a:t>
            </a:r>
            <a:r>
              <a:rPr lang="en-GB" sz="2400" dirty="0"/>
              <a:t> is recommended for adults who have a BMI of 27 and above if they have one weight-associated health condition like high blood pressure or type 2 diabetes. The dose recommended for using </a:t>
            </a:r>
            <a:r>
              <a:rPr lang="en-GB" sz="2400" dirty="0" err="1"/>
              <a:t>Lorcaserin</a:t>
            </a:r>
            <a:r>
              <a:rPr lang="en-GB" sz="2400" dirty="0"/>
              <a:t> is 10 mg twice daily. This medication is known to increase serotonin receptors in the brain, increase feelings of fullness, and reduce food intake.</a:t>
            </a:r>
            <a:endParaRPr lang="x-none" sz="2400" dirty="0"/>
          </a:p>
          <a:p>
            <a:pPr>
              <a:spcAft>
                <a:spcPts val="800"/>
              </a:spcAft>
            </a:pPr>
            <a:endParaRPr lang="x-none" sz="2400" dirty="0"/>
          </a:p>
        </p:txBody>
      </p:sp>
    </p:spTree>
    <p:extLst>
      <p:ext uri="{BB962C8B-B14F-4D97-AF65-F5344CB8AC3E}">
        <p14:creationId xmlns:p14="http://schemas.microsoft.com/office/powerpoint/2010/main" val="937072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156851" y="637762"/>
            <a:ext cx="9888496" cy="900131"/>
          </a:xfrm>
          <a:prstGeom prst="rect">
            <a:avLst/>
          </a:prstGeom>
        </p:spPr>
        <p:txBody>
          <a:bodyPr vert="horz" lIns="91440" tIns="45720" rIns="91440" bIns="45720" rtlCol="0" anchor="t">
            <a:normAutofit/>
          </a:bodyPr>
          <a:lstStyle/>
          <a:p>
            <a:pPr marL="0" lvl="0" indent="0">
              <a:lnSpc>
                <a:spcPct val="90000"/>
              </a:lnSpc>
              <a:spcBef>
                <a:spcPct val="0"/>
              </a:spcBef>
              <a:spcAft>
                <a:spcPts val="600"/>
              </a:spcAft>
              <a:tabLst>
                <a:tab pos="228600" algn="l"/>
                <a:tab pos="457200" algn="l"/>
              </a:tabLst>
            </a:pPr>
            <a:r>
              <a:rPr lang="en-US" sz="2800" b="1" dirty="0">
                <a:solidFill>
                  <a:schemeClr val="bg1"/>
                </a:solidFill>
                <a:latin typeface="+mj-lt"/>
                <a:ea typeface="+mj-ea"/>
                <a:cs typeface="+mj-cs"/>
              </a:rPr>
              <a:t>Description</a:t>
            </a:r>
            <a:r>
              <a:rPr lang="en-US" sz="2800" b="1" kern="1200" dirty="0">
                <a:solidFill>
                  <a:schemeClr val="bg1"/>
                </a:solidFill>
                <a:effectLst/>
                <a:latin typeface="+mj-lt"/>
                <a:ea typeface="+mj-ea"/>
                <a:cs typeface="+mj-cs"/>
              </a:rPr>
              <a:t> and </a:t>
            </a:r>
            <a:r>
              <a:rPr lang="en-US" sz="2800" b="1" kern="1200" dirty="0">
                <a:solidFill>
                  <a:schemeClr val="bg1"/>
                </a:solidFill>
                <a:latin typeface="+mj-lt"/>
                <a:ea typeface="+mj-ea"/>
                <a:cs typeface="+mj-cs"/>
              </a:rPr>
              <a:t>how the drug works: Using an appropriate diagram describe the mechanism of action of this drug (5 marks)</a:t>
            </a:r>
          </a:p>
        </p:txBody>
      </p:sp>
      <p:sp>
        <p:nvSpPr>
          <p:cNvPr id="21" name="Rectangle 20">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55548" y="2217343"/>
            <a:ext cx="9880893" cy="3959619"/>
          </a:xfrm>
        </p:spPr>
        <p:txBody>
          <a:bodyPr vert="horz" lIns="91440" tIns="45720" rIns="91440" bIns="45720" rtlCol="0">
            <a:normAutofit/>
          </a:bodyPr>
          <a:lstStyle/>
          <a:p>
            <a:pPr>
              <a:spcAft>
                <a:spcPts val="800"/>
              </a:spcAft>
            </a:pPr>
            <a:r>
              <a:rPr lang="en-US" sz="2400">
                <a:effectLst/>
              </a:rPr>
              <a:t>	Lorcaserin belongs to the selective serotonin 2C receptor agonists. It acts by selectively triggering the serotonin 2C receptors situated in the hypothalamus, which is a part of the brain that is related to feeding. Namely, by activating these receptors, Lorcaserin elevates the serotonin concentration in the brain, a neurotransmitter that directly affects mood and appetite.</a:t>
            </a:r>
          </a:p>
          <a:p>
            <a:pPr>
              <a:spcAft>
                <a:spcPts val="800"/>
              </a:spcAft>
            </a:pPr>
            <a:r>
              <a:rPr lang="en-US" sz="2400">
                <a:effectLst/>
              </a:rPr>
              <a:t>	Stimulating 5-HT2C receptors helps to increase the satiety experience, implying that those taking Lorcaserin can consume lesser quantities of food and feel full. This reduces food intake and is thus the primary reason for reducing the body's size, the common terminology known as “weight loss.”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4304" y="129208"/>
            <a:ext cx="9243392" cy="6599583"/>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gital art of brain">
            <a:extLst>
              <a:ext uri="{FF2B5EF4-FFF2-40B4-BE49-F238E27FC236}">
                <a16:creationId xmlns:a16="http://schemas.microsoft.com/office/drawing/2014/main" id="{2E796510-7E7D-7C1C-DAC2-A29E379F125E}"/>
              </a:ext>
            </a:extLst>
          </p:cNvPr>
          <p:cNvPicPr>
            <a:picLocks noChangeAspect="1"/>
          </p:cNvPicPr>
          <p:nvPr/>
        </p:nvPicPr>
        <p:blipFill rotWithShape="1">
          <a:blip r:embed="rId2"/>
          <a:srcRect l="37136" r="28444"/>
          <a:stretch/>
        </p:blipFill>
        <p:spPr>
          <a:xfrm>
            <a:off x="1" y="10"/>
            <a:ext cx="4196496" cy="6857990"/>
          </a:xfrm>
          <a:prstGeom prst="rect">
            <a:avLst/>
          </a:prstGeom>
          <a:effectLst/>
        </p:spPr>
      </p:pic>
      <p:sp>
        <p:nvSpPr>
          <p:cNvPr id="3" name="Content Placeholder 2"/>
          <p:cNvSpPr>
            <a:spLocks noGrp="1"/>
          </p:cNvSpPr>
          <p:nvPr>
            <p:ph idx="1"/>
          </p:nvPr>
        </p:nvSpPr>
        <p:spPr>
          <a:xfrm>
            <a:off x="4451898" y="1146255"/>
            <a:ext cx="6887849" cy="5595094"/>
          </a:xfrm>
        </p:spPr>
        <p:txBody>
          <a:bodyPr>
            <a:noAutofit/>
          </a:bodyPr>
          <a:lstStyle/>
          <a:p>
            <a:pPr marR="0" lvl="0" indent="0" defTabSz="914400" rtl="0" eaLnBrk="1" fontAlgn="auto" latinLnBrk="0" hangingPunct="1">
              <a:spcBef>
                <a:spcPts val="1000"/>
              </a:spcBef>
              <a:spcAft>
                <a:spcPts val="800"/>
              </a:spcAft>
              <a:buClrTx/>
              <a:buSzTx/>
              <a:buNone/>
              <a:defRPr/>
            </a:pPr>
            <a:r>
              <a:rPr kumimoji="0" lang="en-GB" sz="20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The diagram on the slide above shows </a:t>
            </a:r>
            <a:r>
              <a:rPr kumimoji="0" lang="en-GB" sz="2000" b="0" i="0" u="none" strike="noStrike" kern="100" cap="none" spc="0" normalizeH="0" baseline="0" noProof="0" dirty="0" err="1">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Lorcaserin's</a:t>
            </a:r>
            <a:r>
              <a:rPr kumimoji="0" lang="en-GB" sz="20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mechanism of action. </a:t>
            </a:r>
            <a:r>
              <a:rPr kumimoji="0" lang="en-GB" sz="2000" b="0" i="0" u="none" strike="noStrike" kern="100" cap="none" spc="0" normalizeH="0" baseline="0" noProof="0" dirty="0" err="1">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Lorcaserin</a:t>
            </a:r>
            <a:r>
              <a:rPr kumimoji="0" lang="en-GB" sz="20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has anxiolytic effects in that it acts at the 5-HT2C receptors located in the hypothalamus and sets off a chain of reactions that cause the release of Serotonin. The elevations in serotonin levels trigger brain stimuli that inform the body that it is satiated, hence the reduced feeding frequency.</a:t>
            </a:r>
            <a:endParaRPr kumimoji="0" lang="x-none" sz="2000" b="0" i="0" u="none" strike="noStrike" kern="100" cap="none" spc="0" normalizeH="0" baseline="0" noProof="0">
              <a:ln>
                <a:noFill/>
              </a:ln>
              <a:effectLst/>
              <a:uLnTx/>
              <a:uFillTx/>
              <a:latin typeface="Times New Roman" panose="02020503050405090304" pitchFamily="18" charset="0"/>
              <a:ea typeface="Calibri" panose="020F0502020204030204" pitchFamily="34" charset="0"/>
              <a:cs typeface="Times New Roman" panose="02020503050405090304" pitchFamily="18" charset="0"/>
            </a:endParaRPr>
          </a:p>
          <a:p>
            <a:pPr marR="0" lvl="0" indent="0" defTabSz="914400" rtl="0" eaLnBrk="1" fontAlgn="auto" latinLnBrk="0" hangingPunct="1">
              <a:spcBef>
                <a:spcPts val="1000"/>
              </a:spcBef>
              <a:spcAft>
                <a:spcPts val="800"/>
              </a:spcAft>
              <a:buClrTx/>
              <a:buSzTx/>
              <a:buNone/>
              <a:defRPr/>
            </a:pPr>
            <a:r>
              <a:rPr kumimoji="0" lang="en-GB" sz="20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This mechanism benefits obesity-related cases by ensuring the tenders do not consume very little food when considering slimming down. However, it is also noteworthy that </a:t>
            </a:r>
            <a:r>
              <a:rPr kumimoji="0" lang="en-GB" sz="2000" b="0" i="0" u="none" strike="noStrike" kern="100" cap="none" spc="0" normalizeH="0" baseline="0" noProof="0" dirty="0" err="1">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Lorcaserin</a:t>
            </a:r>
            <a:r>
              <a:rPr kumimoji="0" lang="en-GB" sz="20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is most effective with diet and exercise modification (Mazza et al., 2024). However, this should be done under the close supervision of a healthcare provider to measure its effectiveness and any side effects that can be experienced.</a:t>
            </a:r>
            <a:endParaRPr kumimoji="0" lang="x-none" sz="2000" b="0" i="0" u="none" strike="noStrike" kern="100" cap="none" spc="0" normalizeH="0" baseline="0" noProof="0">
              <a:ln>
                <a:noFill/>
              </a:ln>
              <a:effectLst/>
              <a:uLnTx/>
              <a:uFillTx/>
              <a:latin typeface="Times New Roman" panose="02020503050405090304" pitchFamily="18" charset="0"/>
              <a:ea typeface="Calibri" panose="020F0502020204030204" pitchFamily="34" charset="0"/>
              <a:cs typeface="Times New Roman" panose="0202050305040509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156851" y="637762"/>
            <a:ext cx="9888496" cy="900131"/>
          </a:xfrm>
          <a:prstGeom prst="rect">
            <a:avLst/>
          </a:prstGeom>
        </p:spPr>
        <p:txBody>
          <a:bodyPr vert="horz" lIns="91440" tIns="45720" rIns="91440" bIns="45720" rtlCol="0" anchor="t">
            <a:normAutofit fontScale="85000" lnSpcReduction="20000"/>
          </a:bodyPr>
          <a:lstStyle/>
          <a:p>
            <a:pPr>
              <a:lnSpc>
                <a:spcPct val="90000"/>
              </a:lnSpc>
              <a:spcBef>
                <a:spcPct val="0"/>
              </a:spcBef>
              <a:spcAft>
                <a:spcPts val="600"/>
              </a:spcAft>
              <a:tabLst>
                <a:tab pos="228600" algn="l"/>
                <a:tab pos="457200" algn="l"/>
              </a:tabLst>
            </a:pPr>
            <a:r>
              <a:rPr lang="en-US" sz="2800" b="1" dirty="0">
                <a:solidFill>
                  <a:schemeClr val="bg1"/>
                </a:solidFill>
                <a:latin typeface="+mj-lt"/>
                <a:ea typeface="+mj-ea"/>
                <a:cs typeface="+mj-cs"/>
              </a:rPr>
              <a:t>Description and how the drug works: Explain how this mechanism of action leads to weight loss. You must refer to the content from lectures to answer this section (5 marks)</a:t>
            </a:r>
            <a:endParaRPr lang="en-AU" sz="2800" b="1" dirty="0">
              <a:solidFill>
                <a:schemeClr val="bg1"/>
              </a:solidFill>
              <a:latin typeface="+mj-lt"/>
              <a:ea typeface="+mj-ea"/>
              <a:cs typeface="+mj-cs"/>
            </a:endParaRPr>
          </a:p>
        </p:txBody>
      </p:sp>
      <p:sp>
        <p:nvSpPr>
          <p:cNvPr id="12" name="Rectangle 11">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55548" y="2217343"/>
            <a:ext cx="9880893" cy="3959619"/>
          </a:xfrm>
        </p:spPr>
        <p:txBody>
          <a:bodyPr vert="horz" lIns="91440" tIns="45720" rIns="91440" bIns="45720" rtlCol="0">
            <a:normAutofit fontScale="92500"/>
          </a:bodyPr>
          <a:lstStyle/>
          <a:p>
            <a:pPr>
              <a:spcAft>
                <a:spcPts val="800"/>
              </a:spcAft>
            </a:pPr>
            <a:r>
              <a:rPr lang="en-GB" sz="2400" dirty="0" err="1"/>
              <a:t>Lorcaserin’s</a:t>
            </a:r>
            <a:r>
              <a:rPr lang="en-GB" sz="2400" dirty="0"/>
              <a:t> mechanism of action results in a more effective weight loss goal by influencing appetite control. It is a selective agonist of 5-HT2C receptors responsible for appetite, primarily in the Hypothalamus. </a:t>
            </a:r>
            <a:r>
              <a:rPr lang="en-GB" sz="2400" dirty="0" err="1"/>
              <a:t>Lorcaserin</a:t>
            </a:r>
            <a:r>
              <a:rPr lang="en-GB" sz="2400" dirty="0"/>
              <a:t> acts on these receptors to stimulate serotonin, the neurotransmitter regulating mood and appetite. Higher serotonin degrees make people feel satiated or full, eat less, and fill their stomachs quickly. This process helps suppress hunger and, hence, uses fewer calories. </a:t>
            </a:r>
            <a:endParaRPr lang="x-none" sz="2400"/>
          </a:p>
          <a:p>
            <a:pPr>
              <a:spcAft>
                <a:spcPts val="800"/>
              </a:spcAft>
            </a:pPr>
            <a:r>
              <a:rPr lang="en-GB" sz="2400" dirty="0"/>
              <a:t>	As noted from Lecture 1, weight loss is tied to a long-term consistent limitation of calorie intake. Thus, with the help of </a:t>
            </a:r>
            <a:r>
              <a:rPr lang="en-GB" sz="2400" dirty="0" err="1"/>
              <a:t>Lorcaserin</a:t>
            </a:r>
            <a:r>
              <a:rPr lang="en-GB" sz="2400" dirty="0"/>
              <a:t>, patients reduce the volume of food intake and achieve negative balance, which is the primary condition for weight loss. This gradually results in weight loss because the body is in a state of intake that is less than usual for an extended period. </a:t>
            </a:r>
            <a:endParaRPr lang="x-none" sz="2400" dirty="0"/>
          </a:p>
        </p:txBody>
      </p:sp>
    </p:spTree>
    <p:extLst>
      <p:ext uri="{BB962C8B-B14F-4D97-AF65-F5344CB8AC3E}">
        <p14:creationId xmlns:p14="http://schemas.microsoft.com/office/powerpoint/2010/main" val="1529882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Vegetables and fruits in a row">
            <a:extLst>
              <a:ext uri="{FF2B5EF4-FFF2-40B4-BE49-F238E27FC236}">
                <a16:creationId xmlns:a16="http://schemas.microsoft.com/office/drawing/2014/main" id="{492E2520-710D-31AE-4AD1-CFADA209EEAE}"/>
              </a:ext>
            </a:extLst>
          </p:cNvPr>
          <p:cNvPicPr>
            <a:picLocks noChangeAspect="1"/>
          </p:cNvPicPr>
          <p:nvPr/>
        </p:nvPicPr>
        <p:blipFill rotWithShape="1">
          <a:blip r:embed="rId2"/>
          <a:srcRect l="19885" r="43569" b="-1"/>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Content Placeholder 2"/>
          <p:cNvSpPr>
            <a:spLocks noGrp="1"/>
          </p:cNvSpPr>
          <p:nvPr>
            <p:ph idx="1"/>
          </p:nvPr>
        </p:nvSpPr>
        <p:spPr>
          <a:xfrm>
            <a:off x="4081438" y="1277655"/>
            <a:ext cx="7783883" cy="5075554"/>
          </a:xfrm>
        </p:spPr>
        <p:txBody>
          <a:bodyPr anchor="t">
            <a:normAutofit/>
          </a:bodyPr>
          <a:lstStyle/>
          <a:p>
            <a:pPr indent="182880" defTabSz="914400">
              <a:spcBef>
                <a:spcPts val="1000"/>
              </a:spcBef>
              <a:spcAft>
                <a:spcPts val="800"/>
              </a:spcAft>
              <a:buClrTx/>
              <a:buSzTx/>
              <a:buNone/>
              <a:defRPr/>
            </a:pPr>
            <a:r>
              <a:rPr kumimoji="0" lang="en-GB" sz="24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Further, the satiety effect precipitated by serotonin means that an individual can easily stick to a low-calorie diet as they are not likely to be overwhelmed by hunger or food cravings. This makes </a:t>
            </a:r>
            <a:r>
              <a:rPr kumimoji="0" lang="en-GB" sz="2400" b="0" i="0" u="none" strike="noStrike" kern="100" cap="none" spc="0" normalizeH="0" baseline="0" noProof="0" dirty="0" err="1">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Lorcaserin</a:t>
            </a:r>
            <a:r>
              <a:rPr kumimoji="0" lang="en-GB" sz="24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beneficial, mainly when used along with exercise, reduced food intake, or even a better diet plan. </a:t>
            </a:r>
            <a:endParaRPr kumimoji="0" lang="x-none" sz="2400" b="0" i="0" u="none" strike="noStrike" kern="100" cap="none" spc="0" normalizeH="0" baseline="0" noProof="0">
              <a:ln>
                <a:noFill/>
              </a:ln>
              <a:effectLst/>
              <a:uLnTx/>
              <a:uFillTx/>
              <a:latin typeface="Times New Roman" panose="02020503050405090304" pitchFamily="18" charset="0"/>
              <a:ea typeface="Calibri" panose="020F0502020204030204" pitchFamily="34" charset="0"/>
              <a:cs typeface="Times New Roman" panose="02020503050405090304" pitchFamily="18" charset="0"/>
            </a:endParaRPr>
          </a:p>
          <a:p>
            <a:pPr marL="0" marR="0" lvl="0" indent="182880" defTabSz="914400" rtl="0" eaLnBrk="1" fontAlgn="auto" latinLnBrk="0" hangingPunct="1">
              <a:spcBef>
                <a:spcPts val="1000"/>
              </a:spcBef>
              <a:spcAft>
                <a:spcPts val="0"/>
              </a:spcAft>
              <a:buClrTx/>
              <a:buSzTx/>
              <a:buNone/>
              <a:defRPr/>
            </a:pPr>
            <a:r>
              <a:rPr kumimoji="0" lang="en-GB" sz="2400" b="0" i="0" u="none" strike="noStrike" kern="1200" cap="none" spc="0" normalizeH="0" baseline="0" noProof="0" dirty="0" err="1">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Lorcaserin</a:t>
            </a:r>
            <a:r>
              <a:rPr kumimoji="0" lang="en-GB" sz="2400" b="0" i="0" u="none" strike="noStrike" kern="12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is a weight loss drug; however, its use should be done under prescription to consider the side effects to be cautious of while using it and also to complement other weight loss strategies (Kim et al., 2020). This approach helps to enhance the effect of the drug, as well as reduce the possible side effects for weight loss in people like Amy.</a:t>
            </a:r>
            <a:endParaRPr kumimoji="0" lang="x-none" sz="2400" b="0" i="0" u="none" strike="noStrike" kern="1200" cap="none" spc="0" normalizeH="0" baseline="0" noProof="0">
              <a:ln>
                <a:noFill/>
              </a:ln>
              <a:effectLst/>
              <a:uLnTx/>
              <a:uFillTx/>
              <a:latin typeface="Times New Roman" panose="02020503050405090304" pitchFamily="18" charset="0"/>
              <a:cs typeface="Times New Roman" panose="0202050305040509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49924" y="399163"/>
            <a:ext cx="9869659" cy="2777940"/>
          </a:xfrm>
          <a:prstGeom prst="rect">
            <a:avLst/>
          </a:prstGeom>
          <a:noFill/>
        </p:spPr>
        <p:txBody>
          <a:bodyPr wrap="square">
            <a:spAutoFit/>
          </a:bodyPr>
          <a:lstStyle/>
          <a:p>
            <a:pPr lvl="0" algn="l">
              <a:lnSpc>
                <a:spcPct val="200000"/>
              </a:lnSpc>
              <a:tabLst>
                <a:tab pos="457200" algn="l"/>
                <a:tab pos="457200" algn="l"/>
              </a:tabLst>
            </a:pPr>
            <a:r>
              <a:rPr lang="en-US" b="1" dirty="0">
                <a:latin typeface="Times New Roman" panose="02020503050405090304" pitchFamily="18" charset="0"/>
                <a:cs typeface="Times New Roman" panose="02020503050405090304" pitchFamily="18" charset="0"/>
              </a:rPr>
              <a:t>Scientific Studies: Include results of two different scientific studies done to measure the effectiveness of the drug. You must provide sufficient details about the study to understand the study design, methods, findings and what the results mean. The document must also contain screencaps of the journal articles you used as seen below. (8 marks) </a:t>
            </a:r>
          </a:p>
          <a:p>
            <a:pPr lvl="0" algn="l">
              <a:lnSpc>
                <a:spcPct val="200000"/>
              </a:lnSpc>
              <a:tabLst>
                <a:tab pos="457200" algn="l"/>
                <a:tab pos="457200" algn="l"/>
              </a:tabLst>
            </a:pPr>
            <a:r>
              <a:rPr lang="en-US" b="1" dirty="0">
                <a:solidFill>
                  <a:srgbClr val="C00000"/>
                </a:solidFill>
                <a:latin typeface="Times New Roman" panose="02020503050405090304" pitchFamily="18" charset="0"/>
                <a:cs typeface="Times New Roman" panose="02020503050405090304" pitchFamily="18" charset="0"/>
              </a:rPr>
              <a:t>Study 1</a:t>
            </a:r>
            <a:endParaRPr lang="en-AU" b="1" dirty="0">
              <a:solidFill>
                <a:srgbClr val="C00000"/>
              </a:solidFill>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a:xfrm>
            <a:off x="1280160" y="3177102"/>
            <a:ext cx="10073640" cy="3680897"/>
          </a:xfrm>
        </p:spPr>
        <p:txBody>
          <a:bodyPr>
            <a:noAutofit/>
          </a:bodyPr>
          <a:lstStyle/>
          <a:p>
            <a:pPr indent="0">
              <a:lnSpc>
                <a:spcPct val="150000"/>
              </a:lnSpc>
              <a:spcAft>
                <a:spcPts val="800"/>
              </a:spcAft>
              <a:buNone/>
            </a:pPr>
            <a:r>
              <a:rPr lang="en-GB" sz="1800" kern="100" dirty="0">
                <a:effectLst/>
                <a:latin typeface="Times New Roman" panose="02020503050405090304" pitchFamily="18" charset="0"/>
                <a:ea typeface="Calibri" panose="020F0502020204030204" pitchFamily="34" charset="0"/>
                <a:cs typeface="Times New Roman" panose="02020503050405090304" pitchFamily="18" charset="0"/>
              </a:rPr>
              <a:t>	The article “</a:t>
            </a:r>
            <a:r>
              <a:rPr lang="en-GB" sz="1800" kern="100" dirty="0" err="1">
                <a:effectLst/>
                <a:latin typeface="Times New Roman" panose="02020503050405090304" pitchFamily="18" charset="0"/>
                <a:ea typeface="Calibri" panose="020F0502020204030204" pitchFamily="34" charset="0"/>
                <a:cs typeface="Times New Roman" panose="02020503050405090304" pitchFamily="18" charset="0"/>
              </a:rPr>
              <a:t>Lorcaserin</a:t>
            </a:r>
            <a:r>
              <a:rPr lang="en-GB" sz="1800" kern="100" dirty="0">
                <a:effectLst/>
                <a:latin typeface="Times New Roman" panose="02020503050405090304" pitchFamily="18" charset="0"/>
                <a:ea typeface="Calibri" panose="020F0502020204030204" pitchFamily="34" charset="0"/>
                <a:cs typeface="Times New Roman" panose="02020503050405090304" pitchFamily="18" charset="0"/>
              </a:rPr>
              <a:t> (Belviq): A Selective Serotonin 5-HT2C Agonist In the Treatment of Obesity,” authored by Ashley Gustafson, Camille King, and Jose A. Rey, is a randomized, double-blind, placebo-control trial. This design is regarded as the best in clinical research since it reduces bias and guarantees the validity of the results. This work included overweight/obese patients; the study included patients with a BMI greater than 30 or having a BMI of 27 instead and suffering from weight-related comorbidity, including hypertension or type 2 diabetes (Gustafson, King, and Rey, 2013). At the beginning of the study and during 52 weeks, patients were randomized to the group receiving </a:t>
            </a:r>
            <a:r>
              <a:rPr lang="en-GB" sz="1800" kern="100" dirty="0" err="1">
                <a:effectLst/>
                <a:latin typeface="Times New Roman" panose="02020503050405090304" pitchFamily="18" charset="0"/>
                <a:ea typeface="Calibri" panose="020F0502020204030204" pitchFamily="34" charset="0"/>
                <a:cs typeface="Times New Roman" panose="02020503050405090304" pitchFamily="18" charset="0"/>
              </a:rPr>
              <a:t>Lorcaserin</a:t>
            </a:r>
            <a:r>
              <a:rPr lang="en-GB" sz="1800" kern="100" dirty="0">
                <a:effectLst/>
                <a:latin typeface="Times New Roman" panose="02020503050405090304" pitchFamily="18" charset="0"/>
                <a:ea typeface="Calibri" panose="020F0502020204030204" pitchFamily="34" charset="0"/>
                <a:cs typeface="Times New Roman" panose="02020503050405090304" pitchFamily="18" charset="0"/>
              </a:rPr>
              <a:t> 10mg two times a day or placebo. </a:t>
            </a:r>
            <a:endParaRPr lang="x-none" sz="1800" kern="100" dirty="0">
              <a:effectLst/>
              <a:latin typeface="Times New Roman" panose="02020503050405090304" pitchFamily="18" charset="0"/>
              <a:ea typeface="Calibri" panose="020F0502020204030204" pitchFamily="34" charset="0"/>
              <a:cs typeface="Times New Roman" panose="02020503050405090304" pitchFamily="18" charset="0"/>
            </a:endParaRPr>
          </a:p>
          <a:p>
            <a:pPr>
              <a:lnSpc>
                <a:spcPct val="150000"/>
              </a:lnSpc>
            </a:pPr>
            <a:endParaRPr lang="x-none"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1534" y="548639"/>
            <a:ext cx="9142665" cy="5577909"/>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a:bodyPr>
          <a:lstStyle/>
          <a:p>
            <a:pPr marR="0" lvl="0" indent="0" defTabSz="914400" rtl="0" eaLnBrk="1" fontAlgn="auto" latinLnBrk="0" hangingPunct="1">
              <a:spcBef>
                <a:spcPts val="1000"/>
              </a:spcBef>
              <a:spcAft>
                <a:spcPts val="800"/>
              </a:spcAft>
              <a:buClrTx/>
              <a:buSzTx/>
              <a:buNone/>
              <a:defRPr/>
            </a:pPr>
            <a:r>
              <a:rPr kumimoji="0" lang="en-GB" sz="2000" b="0" i="0" u="none" strike="noStrike" kern="100" cap="none" spc="0" normalizeH="0" baseline="0" noProof="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The study's primary outcome was the proportion of weight loss from baseline to week 52. Secondary objectives were altering cardiometabolic intermediate outcomes like blood pressure, fasting blood sugar, insulin concentration, and lipid profile (Gustafson, King, and Rey, 2013). The techniques used made it possible to assess the extent to which Lorcaserin would be helpful not only in the desire for weight loss but in optimizing metabolic health, too. </a:t>
            </a:r>
            <a:endParaRPr kumimoji="0" lang="x-none" sz="2000" b="0" i="0" u="none" strike="noStrike" kern="100" cap="none" spc="0" normalizeH="0" baseline="0" noProof="0">
              <a:ln>
                <a:noFill/>
              </a:ln>
              <a:effectLst/>
              <a:uLnTx/>
              <a:uFillTx/>
              <a:latin typeface="Times New Roman" panose="02020503050405090304" pitchFamily="18" charset="0"/>
              <a:ea typeface="Calibri" panose="020F0502020204030204" pitchFamily="34" charset="0"/>
              <a:cs typeface="Times New Roman" panose="02020503050405090304" pitchFamily="18" charset="0"/>
            </a:endParaRPr>
          </a:p>
          <a:p>
            <a:pPr marR="0" lvl="0" indent="0" defTabSz="914400" rtl="0" eaLnBrk="1" fontAlgn="auto" latinLnBrk="0" hangingPunct="1">
              <a:spcBef>
                <a:spcPts val="1000"/>
              </a:spcBef>
              <a:spcAft>
                <a:spcPts val="800"/>
              </a:spcAft>
              <a:buClrTx/>
              <a:buSzTx/>
              <a:buNone/>
              <a:defRPr/>
            </a:pPr>
            <a:r>
              <a:rPr kumimoji="0" lang="en-GB" sz="2000" b="0" i="0" u="none" strike="noStrike" kern="100" cap="none" spc="0" normalizeH="0" baseline="0" noProof="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The outcome of this study was substantial. In the weight loss evaluation, the Lorcaserin group had higher mean reduction values than the placebo group. Specifically, 47.5% of the participants in the Lorcaserin group achieved at least a 5% reduction in their baseline body weight compared to only 20.3% in the placebo group (Gustafson, King, and Rey, 2013). The Lorcaserin group displayed the following benefits in cardiometabolic parameters: decreased blood pressure, fasting glucose, and insulin levels; improved lipid profiles; decreased LDL cholesterol and triglycerides; and increased HDL cholesterol.</a:t>
            </a:r>
            <a:endParaRPr kumimoji="0" lang="x-none" sz="2000" b="0" i="0" u="none" strike="noStrike" kern="100" cap="none" spc="0" normalizeH="0" baseline="0" noProof="0">
              <a:ln>
                <a:noFill/>
              </a:ln>
              <a:effectLst/>
              <a:uLnTx/>
              <a:uFillTx/>
              <a:latin typeface="Times New Roman" panose="02020503050405090304" pitchFamily="18" charset="0"/>
              <a:ea typeface="Calibri" panose="020F0502020204030204" pitchFamily="34" charset="0"/>
              <a:cs typeface="Times New Roman" panose="02020503050405090304" pitchFamily="18" charset="0"/>
            </a:endParaRPr>
          </a:p>
          <a:p>
            <a:endParaRPr lang="x-none"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838200" y="1825625"/>
            <a:ext cx="10515600" cy="4351338"/>
          </a:xfrm>
        </p:spPr>
        <p:txBody>
          <a:bodyPr>
            <a:normAutofit/>
          </a:bodyPr>
          <a:lstStyle/>
          <a:p>
            <a:pPr marR="0" lvl="0" indent="0" defTabSz="914400" rtl="0" eaLnBrk="1" fontAlgn="auto" latinLnBrk="0" hangingPunct="1">
              <a:spcBef>
                <a:spcPts val="1000"/>
              </a:spcBef>
              <a:spcAft>
                <a:spcPts val="800"/>
              </a:spcAft>
              <a:buClrTx/>
              <a:buSzTx/>
              <a:buNone/>
              <a:defRPr/>
            </a:pPr>
            <a:r>
              <a:rPr kumimoji="0" lang="en-GB" b="0" i="0" u="none" strike="noStrike" kern="100" cap="none" spc="0" normalizeH="0" baseline="0" noProof="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The outcome of this study suggests that </a:t>
            </a:r>
            <a:r>
              <a:rPr kumimoji="0" lang="en-GB" b="0" i="0" u="none" strike="noStrike" kern="100" cap="none" spc="0" normalizeH="0" baseline="0" noProof="0" err="1">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Lorcaserin</a:t>
            </a:r>
            <a:r>
              <a:rPr kumimoji="0" lang="en-GB" b="0" i="0" u="none" strike="noStrike" kern="100" cap="none" spc="0" normalizeH="0" baseline="0" noProof="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has the potential to be a weight loss aid that is beneficial to the cardiometabolic health of overweight and obese patients. The results of the studies in this review support the use of </a:t>
            </a:r>
            <a:r>
              <a:rPr kumimoji="0" lang="en-GB" b="0" i="0" u="none" strike="noStrike" kern="100" cap="none" spc="0" normalizeH="0" baseline="0" noProof="0" err="1">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Lorcaserin</a:t>
            </a:r>
            <a:r>
              <a:rPr kumimoji="0" lang="en-GB" b="0" i="0" u="none" strike="noStrike" kern="100" cap="none" spc="0" normalizeH="0" baseline="0" noProof="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as a relevant pharmacological intervention in obesity since it helps reduce weight and exhibits beneficial and significant effects on metabolic profile (Gustafson, King, and Rey, 2013). These enhancements can drastically decrease the possibilities of numerous obesity-related illnesses, thus making </a:t>
            </a:r>
            <a:r>
              <a:rPr kumimoji="0" lang="en-GB" b="0" i="0" u="none" strike="noStrike" kern="100" cap="none" spc="0" normalizeH="0" baseline="0" noProof="0" err="1">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Lorcaserin</a:t>
            </a:r>
            <a:r>
              <a:rPr kumimoji="0" lang="en-GB" b="0" i="0" u="none" strike="noStrike" kern="100" cap="none" spc="0" normalizeH="0" baseline="0" noProof="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effective for patients with weight loss issues.</a:t>
            </a:r>
            <a:endParaRPr kumimoji="0" lang="x-none" b="0" i="0" u="none" strike="noStrike" kern="100" cap="none" spc="0" normalizeH="0" baseline="0" noProof="0">
              <a:ln>
                <a:noFill/>
              </a:ln>
              <a:effectLst/>
              <a:uLnTx/>
              <a:uFillTx/>
              <a:latin typeface="Times New Roman" panose="02020503050405090304" pitchFamily="18" charset="0"/>
              <a:ea typeface="Calibri" panose="020F0502020204030204" pitchFamily="34" charset="0"/>
              <a:cs typeface="Times New Roman" panose="02020503050405090304" pitchFamily="18" charset="0"/>
            </a:endParaRPr>
          </a:p>
          <a:p>
            <a:endParaRPr lang="x-non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49924" y="399163"/>
            <a:ext cx="9869659" cy="2777940"/>
          </a:xfrm>
          <a:prstGeom prst="rect">
            <a:avLst/>
          </a:prstGeom>
          <a:noFill/>
        </p:spPr>
        <p:txBody>
          <a:bodyPr wrap="square">
            <a:spAutoFit/>
          </a:bodyPr>
          <a:lstStyle/>
          <a:p>
            <a:pPr lvl="0" algn="l">
              <a:lnSpc>
                <a:spcPct val="200000"/>
              </a:lnSpc>
              <a:tabLst>
                <a:tab pos="457200" algn="l"/>
                <a:tab pos="457200" algn="l"/>
              </a:tabLst>
            </a:pPr>
            <a:r>
              <a:rPr lang="en-US" b="1" dirty="0">
                <a:latin typeface="Times New Roman" panose="02020503050405090304" pitchFamily="18" charset="0"/>
                <a:cs typeface="Times New Roman" panose="02020503050405090304" pitchFamily="18" charset="0"/>
              </a:rPr>
              <a:t>Scientific Studies: Include results of two different scientific studies done to measure the effectiveness of the drug. You must provide sufficient details about the study to understand the study design, methods, findings and what the results mean. The document must also contain screencaps of the journal articles you used as seen below. (8 marks) </a:t>
            </a:r>
          </a:p>
          <a:p>
            <a:pPr lvl="0" algn="l">
              <a:lnSpc>
                <a:spcPct val="200000"/>
              </a:lnSpc>
              <a:tabLst>
                <a:tab pos="457200" algn="l"/>
                <a:tab pos="457200" algn="l"/>
              </a:tabLst>
            </a:pPr>
            <a:r>
              <a:rPr lang="en-US" b="1" dirty="0">
                <a:solidFill>
                  <a:srgbClr val="C00000"/>
                </a:solidFill>
                <a:latin typeface="Times New Roman" panose="02020503050405090304" pitchFamily="18" charset="0"/>
                <a:cs typeface="Times New Roman" panose="02020503050405090304" pitchFamily="18" charset="0"/>
              </a:rPr>
              <a:t>Study 2</a:t>
            </a:r>
            <a:endParaRPr lang="en-AU" b="1" dirty="0">
              <a:solidFill>
                <a:srgbClr val="C00000"/>
              </a:solidFill>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a:xfrm>
            <a:off x="1402080" y="3177103"/>
            <a:ext cx="9951720" cy="3680897"/>
          </a:xfrm>
        </p:spPr>
        <p:txBody>
          <a:bodyPr>
            <a:noAutofit/>
          </a:bodyPr>
          <a:lstStyle/>
          <a:p>
            <a:pPr indent="0">
              <a:lnSpc>
                <a:spcPct val="200000"/>
              </a:lnSpc>
              <a:spcAft>
                <a:spcPts val="800"/>
              </a:spcAft>
              <a:buNone/>
            </a:pPr>
            <a:r>
              <a:rPr lang="en-GB" sz="1800" kern="100" dirty="0">
                <a:effectLst/>
                <a:latin typeface="Times New Roman" panose="02020503050405090304" pitchFamily="18" charset="0"/>
                <a:ea typeface="Calibri" panose="020F0502020204030204" pitchFamily="34" charset="0"/>
                <a:cs typeface="Times New Roman" panose="02020503050405090304" pitchFamily="18" charset="0"/>
              </a:rPr>
              <a:t>	The study entitled “Effects of </a:t>
            </a:r>
            <a:r>
              <a:rPr lang="en-GB" sz="1800" kern="100" dirty="0" err="1">
                <a:effectLst/>
                <a:latin typeface="Times New Roman" panose="02020503050405090304" pitchFamily="18" charset="0"/>
                <a:ea typeface="Calibri" panose="020F0502020204030204" pitchFamily="34" charset="0"/>
                <a:cs typeface="Times New Roman" panose="02020503050405090304" pitchFamily="18" charset="0"/>
              </a:rPr>
              <a:t>Lorcaserin</a:t>
            </a:r>
            <a:r>
              <a:rPr lang="en-GB" sz="1800" kern="100" dirty="0">
                <a:effectLst/>
                <a:latin typeface="Times New Roman" panose="02020503050405090304" pitchFamily="18" charset="0"/>
                <a:ea typeface="Calibri" panose="020F0502020204030204" pitchFamily="34" charset="0"/>
                <a:cs typeface="Times New Roman" panose="02020503050405090304" pitchFamily="18" charset="0"/>
              </a:rPr>
              <a:t> on Cardiometabolic Risk Factors in Overweight and Obese Patients: A Systematic Review and Meta-Analysis” summarizes several clinical trials to evaluate the effectiveness of </a:t>
            </a:r>
            <a:r>
              <a:rPr lang="en-GB" sz="1800" kern="100" dirty="0" err="1">
                <a:effectLst/>
                <a:latin typeface="Times New Roman" panose="02020503050405090304" pitchFamily="18" charset="0"/>
                <a:ea typeface="Calibri" panose="020F0502020204030204" pitchFamily="34" charset="0"/>
                <a:cs typeface="Times New Roman" panose="02020503050405090304" pitchFamily="18" charset="0"/>
              </a:rPr>
              <a:t>Lorcaserin</a:t>
            </a:r>
            <a:r>
              <a:rPr lang="en-GB" sz="1800" kern="100" dirty="0">
                <a:effectLst/>
                <a:latin typeface="Times New Roman" panose="02020503050405090304" pitchFamily="18" charset="0"/>
                <a:ea typeface="Calibri" panose="020F0502020204030204" pitchFamily="34" charset="0"/>
                <a:cs typeface="Times New Roman" panose="02020503050405090304" pitchFamily="18" charset="0"/>
              </a:rPr>
              <a:t>. </a:t>
            </a:r>
            <a:r>
              <a:rPr lang="en-US" sz="1800" kern="100" dirty="0">
                <a:effectLst/>
                <a:latin typeface="Times New Roman" panose="02020503050405090304" pitchFamily="18" charset="0"/>
                <a:ea typeface="Calibri" panose="020F0502020204030204" pitchFamily="34" charset="0"/>
                <a:cs typeface="Times New Roman" panose="02020503050405090304" pitchFamily="18" charset="0"/>
              </a:rPr>
              <a:t>The study entails a variety of RCTs on the differences in </a:t>
            </a:r>
            <a:r>
              <a:rPr lang="en-US" sz="1800" kern="100" dirty="0" err="1">
                <a:effectLst/>
                <a:latin typeface="Times New Roman" panose="02020503050405090304" pitchFamily="18" charset="0"/>
                <a:ea typeface="Calibri" panose="020F0502020204030204" pitchFamily="34" charset="0"/>
                <a:cs typeface="Times New Roman" panose="02020503050405090304" pitchFamily="18" charset="0"/>
              </a:rPr>
              <a:t>Lorcaserin’s</a:t>
            </a:r>
            <a:r>
              <a:rPr lang="en-US" sz="1800" kern="100" dirty="0">
                <a:effectLst/>
                <a:latin typeface="Times New Roman" panose="02020503050405090304" pitchFamily="18" charset="0"/>
                <a:ea typeface="Calibri" panose="020F0502020204030204" pitchFamily="34" charset="0"/>
                <a:cs typeface="Times New Roman" panose="02020503050405090304" pitchFamily="18" charset="0"/>
              </a:rPr>
              <a:t> impact on cardiometabolic risk factors in overweight and obese patients (Kuo et al., 2019).</a:t>
            </a:r>
            <a:endParaRPr lang="x-none"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2894" y="807719"/>
            <a:ext cx="8093146" cy="5599751"/>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215026" y="939453"/>
            <a:ext cx="8145030" cy="4830412"/>
          </a:xfrm>
        </p:spPr>
        <p:txBody>
          <a:bodyPr anchor="t">
            <a:normAutofit/>
          </a:bodyPr>
          <a:lstStyle/>
          <a:p>
            <a:pPr marR="0" lvl="0" indent="0" defTabSz="914400" rtl="0" eaLnBrk="1" fontAlgn="auto" latinLnBrk="0" hangingPunct="1">
              <a:spcBef>
                <a:spcPts val="1000"/>
              </a:spcBef>
              <a:spcAft>
                <a:spcPts val="800"/>
              </a:spcAft>
              <a:buClrTx/>
              <a:buSzTx/>
              <a:buNone/>
              <a:defRPr/>
            </a:pPr>
            <a:r>
              <a:rPr lang="en-US" sz="2400" kern="100" dirty="0">
                <a:latin typeface="Times New Roman" panose="02020503050405090304" pitchFamily="18" charset="0"/>
                <a:ea typeface="Calibri" panose="020F0502020204030204" pitchFamily="34" charset="0"/>
                <a:cs typeface="Times New Roman" panose="02020503050405090304" pitchFamily="18" charset="0"/>
              </a:rPr>
              <a:t>	</a:t>
            </a:r>
            <a:r>
              <a:rPr kumimoji="0" lang="en-US" sz="24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Some of the electronic databases used are PubMed and </a:t>
            </a:r>
            <a:r>
              <a:rPr kumimoji="0" lang="en-US" sz="2400" b="0" i="0" u="none" strike="noStrike" kern="100" cap="none" spc="0" normalizeH="0" baseline="0" noProof="0" dirty="0" err="1">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ClinicalTrials</a:t>
            </a:r>
            <a:r>
              <a:rPr kumimoji="0" lang="en-US" sz="24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From these studies, it was evident that the use of </a:t>
            </a:r>
            <a:r>
              <a:rPr kumimoji="0" lang="en-US" sz="2400" b="0" i="0" u="none" strike="noStrike" kern="100" cap="none" spc="0" normalizeH="0" baseline="0" noProof="0" dirty="0" err="1">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Lorcaserin</a:t>
            </a:r>
            <a:r>
              <a:rPr kumimoji="0" lang="en-US" sz="24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works or helps treat multiple cardiometabolic risks in overweight and obese patients. </a:t>
            </a:r>
            <a:r>
              <a:rPr kumimoji="0" lang="en-US" sz="2400" b="0" i="0" u="none" strike="noStrike" kern="100" cap="none" spc="0" normalizeH="0" baseline="0" noProof="0" dirty="0" err="1">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Lorcaserin</a:t>
            </a:r>
            <a:r>
              <a:rPr kumimoji="0" lang="en-US" sz="24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therefore, improves the patient’s cardiac function since it affects systolic and diastolic blood pressure </a:t>
            </a:r>
            <a:r>
              <a:rPr kumimoji="0" lang="en-GB" sz="24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(Kuo et al., 2019). Also, </a:t>
            </a:r>
            <a:r>
              <a:rPr kumimoji="0" lang="en-GB" sz="2400" b="0" i="0" u="none" strike="noStrike" kern="100" cap="none" spc="0" normalizeH="0" baseline="0" noProof="0" dirty="0" err="1">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Lorcaserin</a:t>
            </a:r>
            <a:r>
              <a:rPr kumimoji="0" lang="en-GB" sz="24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is beneficial in reducing fasting glucose levels and LDL cholesterol, which are essential markers in managing diabetes and preventing heart disease.</a:t>
            </a:r>
            <a:endParaRPr kumimoji="0" lang="x-none" sz="2400" b="0" i="0" u="none" strike="noStrike" kern="100" cap="none" spc="0" normalizeH="0" baseline="0" noProof="0">
              <a:ln>
                <a:noFill/>
              </a:ln>
              <a:effectLst/>
              <a:uLnTx/>
              <a:uFillTx/>
              <a:latin typeface="Times New Roman" panose="02020503050405090304" pitchFamily="18" charset="0"/>
              <a:ea typeface="Calibri" panose="020F0502020204030204" pitchFamily="34" charset="0"/>
              <a:cs typeface="Times New Roman" panose="02020503050405090304" pitchFamily="18" charset="0"/>
            </a:endParaRPr>
          </a:p>
          <a:p>
            <a:pPr marR="0" lvl="0" indent="0" defTabSz="914400" rtl="0" eaLnBrk="1" fontAlgn="auto" latinLnBrk="0" hangingPunct="1">
              <a:spcBef>
                <a:spcPts val="1000"/>
              </a:spcBef>
              <a:spcAft>
                <a:spcPts val="800"/>
              </a:spcAft>
              <a:buClrTx/>
              <a:buSzTx/>
              <a:buNone/>
              <a:defRPr/>
            </a:pPr>
            <a:r>
              <a:rPr kumimoji="0" lang="en-GB" sz="24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a:t>
            </a:r>
            <a:r>
              <a:rPr lang="en-GB" sz="2400" kern="100" dirty="0">
                <a:latin typeface="Times New Roman" panose="02020503050405090304" pitchFamily="18" charset="0"/>
                <a:ea typeface="Calibri" panose="020F0502020204030204" pitchFamily="34" charset="0"/>
                <a:cs typeface="Times New Roman" panose="02020503050405090304" pitchFamily="18" charset="0"/>
              </a:rPr>
              <a:t>T</a:t>
            </a:r>
            <a:r>
              <a:rPr kumimoji="0" lang="en-GB" sz="24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he results also indicated an enhancement in HDL cholesterol. Based on this study, </a:t>
            </a:r>
            <a:r>
              <a:rPr kumimoji="0" lang="en-GB" sz="2400" b="0" i="0" u="none" strike="noStrike" kern="100" cap="none" spc="0" normalizeH="0" baseline="0" noProof="0" dirty="0" err="1">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Lorcaserin</a:t>
            </a:r>
            <a:r>
              <a:rPr kumimoji="0" lang="en-GB" sz="24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is helpful in the weight loss process and supports the general enhancement of cardiometabolic health for managing obesity and its risks.</a:t>
            </a:r>
            <a:endParaRPr kumimoji="0" lang="x-none" sz="2400" b="0" i="0" u="none" strike="noStrike" kern="100" cap="none" spc="0" normalizeH="0" baseline="0" noProof="0">
              <a:ln>
                <a:noFill/>
              </a:ln>
              <a:effectLst/>
              <a:uLnTx/>
              <a:uFillTx/>
              <a:latin typeface="Times New Roman" panose="02020503050405090304" pitchFamily="18" charset="0"/>
              <a:ea typeface="Calibri" panose="020F0502020204030204" pitchFamily="34" charset="0"/>
              <a:cs typeface="Times New Roman" panose="02020503050405090304" pitchFamily="18" charset="0"/>
            </a:endParaRPr>
          </a:p>
          <a:p>
            <a:endParaRPr lang="x-none"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156851" y="637762"/>
            <a:ext cx="9888496" cy="900131"/>
          </a:xfrm>
          <a:prstGeom prst="rect">
            <a:avLst/>
          </a:prstGeom>
        </p:spPr>
        <p:txBody>
          <a:bodyPr vert="horz" lIns="91440" tIns="45720" rIns="91440" bIns="45720" rtlCol="0" anchor="t">
            <a:normAutofit/>
          </a:bodyPr>
          <a:lstStyle/>
          <a:p>
            <a:pPr>
              <a:lnSpc>
                <a:spcPct val="90000"/>
              </a:lnSpc>
              <a:spcBef>
                <a:spcPct val="0"/>
              </a:spcBef>
              <a:spcAft>
                <a:spcPts val="600"/>
              </a:spcAft>
              <a:tabLst>
                <a:tab pos="228600" algn="l"/>
                <a:tab pos="457200" algn="l"/>
              </a:tabLst>
            </a:pPr>
            <a:r>
              <a:rPr lang="en-US" sz="2800" b="1" dirty="0">
                <a:solidFill>
                  <a:schemeClr val="bg1"/>
                </a:solidFill>
                <a:latin typeface="+mj-lt"/>
                <a:ea typeface="+mj-ea"/>
                <a:cs typeface="+mj-cs"/>
              </a:rPr>
              <a:t>Critique: Potential general side effects associated with the drug? (1 mark)</a:t>
            </a:r>
          </a:p>
        </p:txBody>
      </p:sp>
      <p:sp>
        <p:nvSpPr>
          <p:cNvPr id="12" name="Rectangle 11">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55548" y="2217343"/>
            <a:ext cx="9880893" cy="3959619"/>
          </a:xfrm>
        </p:spPr>
        <p:txBody>
          <a:bodyPr vert="horz" lIns="91440" tIns="45720" rIns="91440" bIns="45720" rtlCol="0">
            <a:normAutofit/>
          </a:bodyPr>
          <a:lstStyle/>
          <a:p>
            <a:pPr>
              <a:spcAft>
                <a:spcPts val="800"/>
              </a:spcAft>
            </a:pPr>
            <a:r>
              <a:rPr lang="en-GB" sz="2400" dirty="0"/>
              <a:t>	</a:t>
            </a:r>
            <a:r>
              <a:rPr lang="en-GB" sz="2400" dirty="0" err="1"/>
              <a:t>Lorcaserin</a:t>
            </a:r>
            <a:r>
              <a:rPr lang="en-GB" sz="2400" dirty="0"/>
              <a:t> efficiently manages weight loss and improves cardiometabolic indices, although it has side effects. Side effects may include headache, dizziness, tiredness, nausea, and dry mouth. Such side effects usually are minor and may subside as the client takes the supplement (</a:t>
            </a:r>
            <a:r>
              <a:rPr lang="en-GB" sz="2400" dirty="0" err="1"/>
              <a:t>Tchang</a:t>
            </a:r>
            <a:r>
              <a:rPr lang="en-GB" sz="2400" dirty="0"/>
              <a:t> et al., 2019). Nevertheless, the patients should be informed of these possible challenges and consult with the healthcare provider to avoid adverse effects when using </a:t>
            </a:r>
            <a:r>
              <a:rPr lang="en-GB" sz="2400" dirty="0" err="1"/>
              <a:t>Lorcaserin</a:t>
            </a:r>
            <a:r>
              <a:rPr lang="en-GB" sz="2400" dirty="0"/>
              <a:t> productively. These side effects are usually manageable, for example, by constant monitoring to reduce their impacts on the body's general health.</a:t>
            </a:r>
            <a:endParaRPr lang="x-none" sz="2400"/>
          </a:p>
        </p:txBody>
      </p:sp>
    </p:spTree>
    <p:extLst>
      <p:ext uri="{BB962C8B-B14F-4D97-AF65-F5344CB8AC3E}">
        <p14:creationId xmlns:p14="http://schemas.microsoft.com/office/powerpoint/2010/main" val="1802797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156851" y="637762"/>
            <a:ext cx="9888496" cy="900131"/>
          </a:xfrm>
          <a:prstGeom prst="rect">
            <a:avLst/>
          </a:prstGeom>
        </p:spPr>
        <p:txBody>
          <a:bodyPr vert="horz" lIns="91440" tIns="45720" rIns="91440" bIns="45720" rtlCol="0" anchor="t">
            <a:normAutofit/>
          </a:bodyPr>
          <a:lstStyle/>
          <a:p>
            <a:pPr marL="0" lvl="1">
              <a:lnSpc>
                <a:spcPct val="90000"/>
              </a:lnSpc>
              <a:spcBef>
                <a:spcPct val="0"/>
              </a:spcBef>
              <a:spcAft>
                <a:spcPts val="600"/>
              </a:spcAft>
              <a:tabLst>
                <a:tab pos="228600" algn="l"/>
                <a:tab pos="457200" algn="l"/>
              </a:tabLst>
            </a:pPr>
            <a:r>
              <a:rPr lang="en-US" sz="2800" b="1" dirty="0">
                <a:solidFill>
                  <a:schemeClr val="bg1"/>
                </a:solidFill>
                <a:latin typeface="+mj-lt"/>
                <a:ea typeface="+mj-ea"/>
                <a:cs typeface="+mj-cs"/>
              </a:rPr>
              <a:t>Critique: Does it lead to or eliminate the risk of specific diseases? (2 marks)</a:t>
            </a:r>
            <a:endParaRPr lang="en-AU" sz="2800" b="1" dirty="0">
              <a:solidFill>
                <a:schemeClr val="bg1"/>
              </a:solidFill>
              <a:latin typeface="+mj-lt"/>
              <a:ea typeface="+mj-ea"/>
              <a:cs typeface="+mj-cs"/>
            </a:endParaRPr>
          </a:p>
        </p:txBody>
      </p:sp>
      <p:sp>
        <p:nvSpPr>
          <p:cNvPr id="12" name="Rectangle 11">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55548" y="2217343"/>
            <a:ext cx="9880893" cy="3959619"/>
          </a:xfrm>
        </p:spPr>
        <p:txBody>
          <a:bodyPr vert="horz" lIns="91440" tIns="45720" rIns="91440" bIns="45720" rtlCol="0">
            <a:normAutofit lnSpcReduction="10000"/>
          </a:bodyPr>
          <a:lstStyle/>
          <a:p>
            <a:pPr>
              <a:spcAft>
                <a:spcPts val="800"/>
              </a:spcAft>
            </a:pPr>
            <a:r>
              <a:rPr lang="en-GB" sz="2400" dirty="0"/>
              <a:t>	Under different circumstances, </a:t>
            </a:r>
            <a:r>
              <a:rPr lang="en-GB" sz="2400" dirty="0" err="1"/>
              <a:t>Lorcaserin</a:t>
            </a:r>
            <a:r>
              <a:rPr lang="en-GB" sz="2400" dirty="0"/>
              <a:t> can lower the risk for some diseases primarily by the mechanisms contributing to weight loss and cardiometabolic characteristics. The overall risk of developing type 2 diabetes should also be reduced by </a:t>
            </a:r>
            <a:r>
              <a:rPr lang="en-GB" sz="2400" dirty="0" err="1"/>
              <a:t>Lorcaserin</a:t>
            </a:r>
            <a:r>
              <a:rPr lang="en-GB" sz="2400" dirty="0"/>
              <a:t>, as weight loss, which is one of the drugs’ effects, makes the body respond more effectively to insulin and regulate glucose levels. Also, changes in blood pressure and lipid profiles indicate a possible decrease in the incidence of cardiovascular diseases (Higgins, Fletcher, and Shanahan, 2020). Thus, it can be concluded that there is little to no data that proves that </a:t>
            </a:r>
            <a:r>
              <a:rPr lang="en-GB" sz="2400" dirty="0" err="1"/>
              <a:t>Lorcaserin</a:t>
            </a:r>
            <a:r>
              <a:rPr lang="en-GB" sz="2400" dirty="0"/>
              <a:t> decreases the risk of cancer. To enhance these benefits, one has to attend check-ups frequently and make numerous changes in one’s lifestyle.</a:t>
            </a:r>
            <a:endParaRPr lang="x-none" sz="2400" dirty="0"/>
          </a:p>
        </p:txBody>
      </p:sp>
    </p:spTree>
    <p:extLst>
      <p:ext uri="{BB962C8B-B14F-4D97-AF65-F5344CB8AC3E}">
        <p14:creationId xmlns:p14="http://schemas.microsoft.com/office/powerpoint/2010/main" val="29523249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849E335-E9D7-05A0-036F-ED3EFA6E7590}"/>
              </a:ext>
            </a:extLst>
          </p:cNvPr>
          <p:cNvSpPr txBox="1"/>
          <p:nvPr/>
        </p:nvSpPr>
        <p:spPr>
          <a:xfrm>
            <a:off x="970672" y="457591"/>
            <a:ext cx="9312813" cy="870431"/>
          </a:xfrm>
          <a:prstGeom prst="rect">
            <a:avLst/>
          </a:prstGeom>
          <a:noFill/>
        </p:spPr>
        <p:txBody>
          <a:bodyPr wrap="square">
            <a:spAutoFit/>
          </a:bodyPr>
          <a:lstStyle/>
          <a:p>
            <a:pPr marL="0" lvl="1">
              <a:lnSpc>
                <a:spcPct val="90000"/>
              </a:lnSpc>
              <a:spcBef>
                <a:spcPct val="0"/>
              </a:spcBef>
              <a:spcAft>
                <a:spcPts val="600"/>
              </a:spcAft>
              <a:tabLst>
                <a:tab pos="228600" algn="l"/>
                <a:tab pos="457200" algn="l"/>
              </a:tabLst>
            </a:pPr>
            <a:r>
              <a:rPr lang="en-US" sz="2800" b="1" dirty="0">
                <a:solidFill>
                  <a:schemeClr val="bg1"/>
                </a:solidFill>
                <a:latin typeface="+mj-lt"/>
                <a:ea typeface="+mj-ea"/>
                <a:cs typeface="+mj-cs"/>
              </a:rPr>
              <a:t>Critique: Does the drug allow you to get all the necessary nutrients. (2 marks)</a:t>
            </a:r>
          </a:p>
        </p:txBody>
      </p:sp>
      <p:sp>
        <p:nvSpPr>
          <p:cNvPr id="5" name="Content Placeholder 3">
            <a:extLst>
              <a:ext uri="{FF2B5EF4-FFF2-40B4-BE49-F238E27FC236}">
                <a16:creationId xmlns:a16="http://schemas.microsoft.com/office/drawing/2014/main" id="{CDC3711D-743B-4946-6295-36E6F0E4EFF7}"/>
              </a:ext>
            </a:extLst>
          </p:cNvPr>
          <p:cNvSpPr txBox="1">
            <a:spLocks/>
          </p:cNvSpPr>
          <p:nvPr/>
        </p:nvSpPr>
        <p:spPr>
          <a:xfrm>
            <a:off x="970672" y="2614584"/>
            <a:ext cx="9936480" cy="43738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800"/>
              </a:spcAft>
            </a:pPr>
            <a:r>
              <a:rPr lang="en-GB" sz="2000" kern="100" dirty="0">
                <a:latin typeface="Times New Roman" panose="02020503050405090304" pitchFamily="18" charset="0"/>
                <a:ea typeface="Calibri" panose="020F0502020204030204" pitchFamily="34" charset="0"/>
                <a:cs typeface="Times New Roman" panose="02020503050405090304" pitchFamily="18" charset="0"/>
              </a:rPr>
              <a:t>	</a:t>
            </a:r>
            <a:r>
              <a:rPr lang="en-GB" sz="2400" dirty="0" err="1"/>
              <a:t>Lorcaserin</a:t>
            </a:r>
            <a:r>
              <a:rPr lang="en-GB" sz="2400" dirty="0"/>
              <a:t> does not prevent the body from absorbing essential nutrients from the foods that one takes. Its main aim is to suppress hunger, thus equating to a minimum amount of food energy intake. Nevertheless, it becomes easy for users to pay attention to some vitamins and minerals they need in their meals, so it is wise to recommend that users eat balanced, nutritious meals (Singh and Singh, 2020). Therefore, it is advisable to take foods rich in these nutrients to counteract any risk of nutrient scarcity. Hence, as for weight loss, </a:t>
            </a:r>
            <a:r>
              <a:rPr lang="en-GB" sz="2400" dirty="0" err="1"/>
              <a:t>Lorcaserin</a:t>
            </a:r>
            <a:r>
              <a:rPr lang="en-GB" sz="2400" dirty="0"/>
              <a:t> is hugely beneficial for a well-rounded diet.</a:t>
            </a:r>
            <a:endParaRPr lang="x-none" sz="2400"/>
          </a:p>
          <a:p>
            <a:endParaRPr lang="x-none" sz="2000" dirty="0"/>
          </a:p>
        </p:txBody>
      </p:sp>
    </p:spTree>
    <p:extLst>
      <p:ext uri="{BB962C8B-B14F-4D97-AF65-F5344CB8AC3E}">
        <p14:creationId xmlns:p14="http://schemas.microsoft.com/office/powerpoint/2010/main" val="290994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457A5D2-D599-E62B-2348-3B8AC636F914}"/>
              </a:ext>
            </a:extLst>
          </p:cNvPr>
          <p:cNvSpPr txBox="1"/>
          <p:nvPr/>
        </p:nvSpPr>
        <p:spPr>
          <a:xfrm>
            <a:off x="1156851" y="430411"/>
            <a:ext cx="10342042" cy="870431"/>
          </a:xfrm>
          <a:prstGeom prst="rect">
            <a:avLst/>
          </a:prstGeom>
          <a:noFill/>
        </p:spPr>
        <p:txBody>
          <a:bodyPr wrap="square">
            <a:spAutoFit/>
          </a:bodyPr>
          <a:lstStyle/>
          <a:p>
            <a:pPr marL="0" lvl="1">
              <a:lnSpc>
                <a:spcPct val="90000"/>
              </a:lnSpc>
              <a:spcBef>
                <a:spcPct val="0"/>
              </a:spcBef>
              <a:spcAft>
                <a:spcPts val="600"/>
              </a:spcAft>
              <a:tabLst>
                <a:tab pos="228600" algn="l"/>
                <a:tab pos="457200" algn="l"/>
              </a:tabLst>
            </a:pPr>
            <a:r>
              <a:rPr lang="en-US" sz="2800" b="1" dirty="0">
                <a:solidFill>
                  <a:schemeClr val="bg1"/>
                </a:solidFill>
                <a:latin typeface="+mj-lt"/>
                <a:ea typeface="+mj-ea"/>
                <a:cs typeface="+mj-cs"/>
              </a:rPr>
              <a:t>Critique: Sustainability of using the drug long term and whether the weight loss will remain once you stop taking the drug? (2 marks)</a:t>
            </a:r>
            <a:endParaRPr lang="en-AU" sz="2800" b="1" dirty="0">
              <a:solidFill>
                <a:schemeClr val="bg1"/>
              </a:solidFill>
              <a:latin typeface="+mj-lt"/>
              <a:ea typeface="+mj-ea"/>
              <a:cs typeface="+mj-cs"/>
            </a:endParaRPr>
          </a:p>
        </p:txBody>
      </p:sp>
      <p:sp>
        <p:nvSpPr>
          <p:cNvPr id="7" name="Content Placeholder 2">
            <a:extLst>
              <a:ext uri="{FF2B5EF4-FFF2-40B4-BE49-F238E27FC236}">
                <a16:creationId xmlns:a16="http://schemas.microsoft.com/office/drawing/2014/main" id="{87715763-FF53-5396-ACF5-BB68F7B32006}"/>
              </a:ext>
            </a:extLst>
          </p:cNvPr>
          <p:cNvSpPr>
            <a:spLocks noGrp="1"/>
          </p:cNvSpPr>
          <p:nvPr>
            <p:ph idx="1"/>
          </p:nvPr>
        </p:nvSpPr>
        <p:spPr>
          <a:xfrm>
            <a:off x="1385446" y="2673800"/>
            <a:ext cx="9906000" cy="4571999"/>
          </a:xfrm>
        </p:spPr>
        <p:txBody>
          <a:bodyPr>
            <a:noAutofit/>
          </a:bodyPr>
          <a:lstStyle/>
          <a:p>
            <a:pPr>
              <a:spcAft>
                <a:spcPts val="800"/>
              </a:spcAft>
            </a:pPr>
            <a:r>
              <a:rPr lang="en-GB" sz="2400" kern="100" dirty="0">
                <a:latin typeface="Times New Roman" panose="02020503050405090304" pitchFamily="18" charset="0"/>
                <a:cs typeface="Times New Roman" panose="02020503050405090304" pitchFamily="18" charset="0"/>
              </a:rPr>
              <a:t>	The long-term use of </a:t>
            </a:r>
            <a:r>
              <a:rPr lang="en-GB" sz="2400" kern="100" dirty="0" err="1">
                <a:latin typeface="Times New Roman" panose="02020503050405090304" pitchFamily="18" charset="0"/>
                <a:cs typeface="Times New Roman" panose="02020503050405090304" pitchFamily="18" charset="0"/>
              </a:rPr>
              <a:t>Lorcaserin</a:t>
            </a:r>
            <a:r>
              <a:rPr lang="en-GB" sz="2400" kern="100" dirty="0">
                <a:latin typeface="Times New Roman" panose="02020503050405090304" pitchFamily="18" charset="0"/>
                <a:cs typeface="Times New Roman" panose="02020503050405090304" pitchFamily="18" charset="0"/>
              </a:rPr>
              <a:t> serves under the critical condition of consistent medical supervision to monitor side effects and ensure safety. Based on utility, </a:t>
            </a:r>
            <a:r>
              <a:rPr lang="en-GB" sz="2400" kern="100" dirty="0" err="1">
                <a:latin typeface="Times New Roman" panose="02020503050405090304" pitchFamily="18" charset="0"/>
                <a:cs typeface="Times New Roman" panose="02020503050405090304" pitchFamily="18" charset="0"/>
              </a:rPr>
              <a:t>Lorcaserin</a:t>
            </a:r>
            <a:r>
              <a:rPr lang="en-GB" sz="2400" kern="100" dirty="0">
                <a:latin typeface="Times New Roman" panose="02020503050405090304" pitchFamily="18" charset="0"/>
                <a:cs typeface="Times New Roman" panose="02020503050405090304" pitchFamily="18" charset="0"/>
              </a:rPr>
              <a:t> is potent in causing weight loss, although there is a tendency for a patient to regain the lost weight as soon as they stop taking the drug. This is because the main dieting </a:t>
            </a:r>
            <a:r>
              <a:rPr lang="en-GB" sz="2400" kern="100" dirty="0" err="1">
                <a:latin typeface="Times New Roman" panose="02020503050405090304" pitchFamily="18" charset="0"/>
                <a:cs typeface="Times New Roman" panose="02020503050405090304" pitchFamily="18" charset="0"/>
              </a:rPr>
              <a:t>behaviors</a:t>
            </a:r>
            <a:r>
              <a:rPr lang="en-GB" sz="2400" kern="100" dirty="0">
                <a:latin typeface="Times New Roman" panose="02020503050405090304" pitchFamily="18" charset="0"/>
                <a:cs typeface="Times New Roman" panose="02020503050405090304" pitchFamily="18" charset="0"/>
              </a:rPr>
              <a:t> cause weight gain and metabolic alteration (Tak and Lee, 2021). While on </a:t>
            </a:r>
            <a:r>
              <a:rPr lang="en-GB" sz="2400" kern="100" dirty="0" err="1">
                <a:latin typeface="Times New Roman" panose="02020503050405090304" pitchFamily="18" charset="0"/>
                <a:cs typeface="Times New Roman" panose="02020503050405090304" pitchFamily="18" charset="0"/>
              </a:rPr>
              <a:t>Lorcaserin</a:t>
            </a:r>
            <a:r>
              <a:rPr lang="en-GB" sz="2400" kern="100" dirty="0">
                <a:latin typeface="Times New Roman" panose="02020503050405090304" pitchFamily="18" charset="0"/>
                <a:cs typeface="Times New Roman" panose="02020503050405090304" pitchFamily="18" charset="0"/>
              </a:rPr>
              <a:t> and after its use to lose some pounds, patients should maintain those results by altering their lifestyle and daily habits to include proper meal intake and exercise.</a:t>
            </a:r>
            <a:endParaRPr lang="x-none" sz="2400" kern="100" dirty="0">
              <a:latin typeface="Times New Roman" panose="02020503050405090304" pitchFamily="18" charset="0"/>
              <a:cs typeface="Times New Roman" panose="02020503050405090304" pitchFamily="18" charset="0"/>
            </a:endParaRPr>
          </a:p>
          <a:p>
            <a:endParaRPr lang="x-none" sz="1800" dirty="0"/>
          </a:p>
        </p:txBody>
      </p:sp>
    </p:spTree>
    <p:extLst>
      <p:ext uri="{BB962C8B-B14F-4D97-AF65-F5344CB8AC3E}">
        <p14:creationId xmlns:p14="http://schemas.microsoft.com/office/powerpoint/2010/main" val="1946642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920F97B-11B7-073E-A246-D0F9FDCB6624}"/>
              </a:ext>
            </a:extLst>
          </p:cNvPr>
          <p:cNvSpPr txBox="1"/>
          <p:nvPr/>
        </p:nvSpPr>
        <p:spPr>
          <a:xfrm>
            <a:off x="1161165" y="430411"/>
            <a:ext cx="9869659" cy="1258230"/>
          </a:xfrm>
          <a:prstGeom prst="rect">
            <a:avLst/>
          </a:prstGeom>
          <a:noFill/>
        </p:spPr>
        <p:txBody>
          <a:bodyPr wrap="square">
            <a:spAutoFit/>
          </a:bodyPr>
          <a:lstStyle/>
          <a:p>
            <a:pPr marL="0" lvl="1">
              <a:lnSpc>
                <a:spcPct val="90000"/>
              </a:lnSpc>
              <a:spcBef>
                <a:spcPct val="0"/>
              </a:spcBef>
              <a:spcAft>
                <a:spcPts val="600"/>
              </a:spcAft>
              <a:tabLst>
                <a:tab pos="228600" algn="l"/>
                <a:tab pos="457200" algn="l"/>
              </a:tabLst>
            </a:pPr>
            <a:r>
              <a:rPr lang="en-US" sz="2800" b="1" dirty="0">
                <a:solidFill>
                  <a:schemeClr val="bg1"/>
                </a:solidFill>
                <a:latin typeface="+mj-lt"/>
                <a:ea typeface="+mj-ea"/>
                <a:cs typeface="+mj-cs"/>
              </a:rPr>
              <a:t>Conclusion: Would you recommend Amy use this drug? Give reasons as to why you came to this conclusion. You should also use Amy's stats to help support your conclusion (5 marks)</a:t>
            </a:r>
            <a:endParaRPr lang="en-AU" sz="2800" b="1" dirty="0">
              <a:solidFill>
                <a:schemeClr val="bg1"/>
              </a:solidFill>
              <a:latin typeface="+mj-lt"/>
              <a:ea typeface="+mj-ea"/>
              <a:cs typeface="+mj-cs"/>
            </a:endParaRPr>
          </a:p>
        </p:txBody>
      </p:sp>
      <p:sp>
        <p:nvSpPr>
          <p:cNvPr id="5" name="Content Placeholder 2">
            <a:extLst>
              <a:ext uri="{FF2B5EF4-FFF2-40B4-BE49-F238E27FC236}">
                <a16:creationId xmlns:a16="http://schemas.microsoft.com/office/drawing/2014/main" id="{C6CB554B-4842-F4F2-9B10-C3A09E2B6B50}"/>
              </a:ext>
            </a:extLst>
          </p:cNvPr>
          <p:cNvSpPr>
            <a:spLocks noGrp="1"/>
          </p:cNvSpPr>
          <p:nvPr>
            <p:ph idx="1"/>
          </p:nvPr>
        </p:nvSpPr>
        <p:spPr>
          <a:xfrm>
            <a:off x="1156851" y="2250301"/>
            <a:ext cx="10180320" cy="4800600"/>
          </a:xfrm>
        </p:spPr>
        <p:txBody>
          <a:bodyPr vert="horz" lIns="91440" tIns="45720" rIns="91440" bIns="45720" rtlCol="0">
            <a:noAutofit/>
          </a:bodyPr>
          <a:lstStyle/>
          <a:p>
            <a:pPr>
              <a:spcAft>
                <a:spcPts val="800"/>
              </a:spcAft>
            </a:pPr>
            <a:r>
              <a:rPr lang="en-GB" sz="2400" kern="100" dirty="0">
                <a:latin typeface="Times New Roman" panose="02020503050405090304" pitchFamily="18" charset="0"/>
                <a:cs typeface="Times New Roman" panose="02020503050405090304" pitchFamily="18" charset="0"/>
              </a:rPr>
              <a:t>	Considering all the researched evidence, I would recommend Amy take </a:t>
            </a:r>
            <a:r>
              <a:rPr lang="en-GB" sz="2400" kern="100" dirty="0" err="1">
                <a:latin typeface="Times New Roman" panose="02020503050405090304" pitchFamily="18" charset="0"/>
                <a:cs typeface="Times New Roman" panose="02020503050405090304" pitchFamily="18" charset="0"/>
              </a:rPr>
              <a:t>Lorcaserin</a:t>
            </a:r>
            <a:r>
              <a:rPr lang="en-GB" sz="2400" kern="100" dirty="0">
                <a:latin typeface="Times New Roman" panose="02020503050405090304" pitchFamily="18" charset="0"/>
                <a:cs typeface="Times New Roman" panose="02020503050405090304" pitchFamily="18" charset="0"/>
              </a:rPr>
              <a:t> to manage her weight. First, it is necessary to note that </a:t>
            </a:r>
            <a:r>
              <a:rPr lang="en-GB" sz="2400" kern="100" dirty="0" err="1">
                <a:latin typeface="Times New Roman" panose="02020503050405090304" pitchFamily="18" charset="0"/>
                <a:cs typeface="Times New Roman" panose="02020503050405090304" pitchFamily="18" charset="0"/>
              </a:rPr>
              <a:t>Lorcaserin</a:t>
            </a:r>
            <a:r>
              <a:rPr lang="en-GB" sz="2400" kern="100" dirty="0">
                <a:latin typeface="Times New Roman" panose="02020503050405090304" pitchFamily="18" charset="0"/>
                <a:cs typeface="Times New Roman" panose="02020503050405090304" pitchFamily="18" charset="0"/>
              </a:rPr>
              <a:t> has been established to help people lose weight. Experts found that many patients shed substantial weight from the drug; almost half of the patients in clinical trials lost at least 5 percent of their initial body weight. This is very true for Amy, who is obese, which comes with many health risks for her.</a:t>
            </a:r>
            <a:endParaRPr lang="x-none" sz="2400" kern="100" dirty="0">
              <a:latin typeface="Times New Roman" panose="02020503050405090304" pitchFamily="18" charset="0"/>
              <a:cs typeface="Times New Roman" panose="02020503050405090304" pitchFamily="18" charset="0"/>
            </a:endParaRPr>
          </a:p>
          <a:p>
            <a:pPr>
              <a:spcAft>
                <a:spcPts val="800"/>
              </a:spcAft>
            </a:pPr>
            <a:r>
              <a:rPr lang="en-GB" sz="2400" kern="100" dirty="0">
                <a:latin typeface="Times New Roman" panose="02020503050405090304" pitchFamily="18" charset="0"/>
                <a:cs typeface="Times New Roman" panose="02020503050405090304" pitchFamily="18" charset="0"/>
              </a:rPr>
              <a:t>	Second, </a:t>
            </a:r>
            <a:r>
              <a:rPr lang="en-GB" sz="2400" kern="100" dirty="0" err="1">
                <a:latin typeface="Times New Roman" panose="02020503050405090304" pitchFamily="18" charset="0"/>
                <a:cs typeface="Times New Roman" panose="02020503050405090304" pitchFamily="18" charset="0"/>
              </a:rPr>
              <a:t>Lorcaserin</a:t>
            </a:r>
            <a:r>
              <a:rPr lang="en-GB" sz="2400" kern="100" dirty="0">
                <a:latin typeface="Times New Roman" panose="02020503050405090304" pitchFamily="18" charset="0"/>
                <a:cs typeface="Times New Roman" panose="02020503050405090304" pitchFamily="18" charset="0"/>
              </a:rPr>
              <a:t> has beneficial effects on patients' cardiometabolic risk profiles. The study upheld reductions in blood pressure, fasting glucose, and LDL cholesterol, which are conducive for Amy, given her risk factors for cardiovascular diseases and diabetes. These improvements can significantly reduce her chances of developing other severe health complications. </a:t>
            </a:r>
            <a:endParaRPr lang="x-none" sz="2400" kern="100" dirty="0">
              <a:latin typeface="Times New Roman" panose="02020503050405090304" pitchFamily="18" charset="0"/>
              <a:cs typeface="Times New Roman" panose="02020503050405090304" pitchFamily="18" charset="0"/>
            </a:endParaRPr>
          </a:p>
        </p:txBody>
      </p:sp>
    </p:spTree>
    <p:extLst>
      <p:ext uri="{BB962C8B-B14F-4D97-AF65-F5344CB8AC3E}">
        <p14:creationId xmlns:p14="http://schemas.microsoft.com/office/powerpoint/2010/main" val="3887230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unopened pill packets">
            <a:extLst>
              <a:ext uri="{FF2B5EF4-FFF2-40B4-BE49-F238E27FC236}">
                <a16:creationId xmlns:a16="http://schemas.microsoft.com/office/drawing/2014/main" id="{1CB455A6-F4F3-E4D0-5D21-889F5D8A88CD}"/>
              </a:ext>
            </a:extLst>
          </p:cNvPr>
          <p:cNvPicPr>
            <a:picLocks noChangeAspect="1"/>
          </p:cNvPicPr>
          <p:nvPr/>
        </p:nvPicPr>
        <p:blipFill rotWithShape="1">
          <a:blip r:embed="rId2"/>
          <a:srcRect l="32909" r="26857"/>
          <a:stretch/>
        </p:blipFill>
        <p:spPr>
          <a:xfrm>
            <a:off x="1" y="10"/>
            <a:ext cx="4196496" cy="6857990"/>
          </a:xfrm>
          <a:prstGeom prst="rect">
            <a:avLst/>
          </a:prstGeom>
          <a:effectLst/>
        </p:spPr>
      </p:pic>
      <p:sp>
        <p:nvSpPr>
          <p:cNvPr id="3" name="Content Placeholder 2"/>
          <p:cNvSpPr>
            <a:spLocks noGrp="1"/>
          </p:cNvSpPr>
          <p:nvPr>
            <p:ph idx="1"/>
          </p:nvPr>
        </p:nvSpPr>
        <p:spPr>
          <a:xfrm>
            <a:off x="4219886" y="1326777"/>
            <a:ext cx="7551238" cy="4895847"/>
          </a:xfrm>
        </p:spPr>
        <p:txBody>
          <a:bodyPr>
            <a:normAutofit/>
          </a:bodyPr>
          <a:lstStyle/>
          <a:p>
            <a:pPr marR="0" lvl="0" indent="0" defTabSz="914400" rtl="0" eaLnBrk="1" fontAlgn="auto" latinLnBrk="0" hangingPunct="1">
              <a:spcBef>
                <a:spcPts val="1000"/>
              </a:spcBef>
              <a:spcAft>
                <a:spcPts val="800"/>
              </a:spcAft>
              <a:buClrTx/>
              <a:buSzTx/>
              <a:buNone/>
              <a:defRPr/>
            </a:pPr>
            <a:r>
              <a:rPr kumimoji="0" lang="en-GB" sz="20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Furthermore, </a:t>
            </a:r>
            <a:r>
              <a:rPr kumimoji="0" lang="en-GB" sz="2000" b="0" i="0" u="none" strike="noStrike" kern="100" cap="none" spc="0" normalizeH="0" baseline="0" noProof="0" dirty="0" err="1">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Lorcaserin</a:t>
            </a:r>
            <a:r>
              <a:rPr kumimoji="0" lang="en-GB" sz="20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can be taken over the long term because it is safe without a prescription. Nonetheless, there are some side effects of using these drugs; however, most of the effects are mild and can easily be controlled. These side effects can be significantly minimized, however, if Amy is to consult a healthcare provider for a routine check-up using the drug. </a:t>
            </a:r>
            <a:endParaRPr kumimoji="0" lang="x-none" sz="2000" b="0" i="0" u="none" strike="noStrike" kern="100" cap="none" spc="0" normalizeH="0" baseline="0" noProof="0">
              <a:ln>
                <a:noFill/>
              </a:ln>
              <a:effectLst/>
              <a:uLnTx/>
              <a:uFillTx/>
              <a:latin typeface="Times New Roman" panose="02020503050405090304" pitchFamily="18" charset="0"/>
              <a:ea typeface="Calibri" panose="020F0502020204030204" pitchFamily="34" charset="0"/>
              <a:cs typeface="Times New Roman" panose="02020503050405090304" pitchFamily="18" charset="0"/>
            </a:endParaRPr>
          </a:p>
          <a:p>
            <a:pPr marR="0" lvl="0" indent="0" defTabSz="914400" rtl="0" eaLnBrk="1" fontAlgn="auto" latinLnBrk="0" hangingPunct="1">
              <a:spcBef>
                <a:spcPts val="1000"/>
              </a:spcBef>
              <a:spcAft>
                <a:spcPts val="800"/>
              </a:spcAft>
              <a:buClrTx/>
              <a:buSzTx/>
              <a:buNone/>
              <a:defRPr/>
            </a:pPr>
            <a:r>
              <a:rPr lang="en-GB" sz="2000" kern="100" dirty="0">
                <a:latin typeface="Times New Roman" panose="02020503050405090304" pitchFamily="18" charset="0"/>
                <a:ea typeface="Calibri" panose="020F0502020204030204" pitchFamily="34" charset="0"/>
                <a:cs typeface="Times New Roman" panose="02020503050405090304" pitchFamily="18" charset="0"/>
              </a:rPr>
              <a:t>	</a:t>
            </a:r>
            <a:r>
              <a:rPr kumimoji="0" lang="en-GB" sz="20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Amy’s BMI is relatively high, accompanied by the corresponding health issues; therefore, she fits the </a:t>
            </a:r>
            <a:r>
              <a:rPr kumimoji="0" lang="en-GB" sz="2000" b="0" i="0" u="none" strike="noStrike" kern="100" cap="none" spc="0" normalizeH="0" baseline="0" noProof="0" dirty="0" err="1">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Lorcaserin</a:t>
            </a:r>
            <a:r>
              <a:rPr kumimoji="0" lang="en-GB" sz="20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prescription. By combining the above medication with diet changes, such as balanced diets and physical activities like walking, Amy can lose plenty of weight and avoid regaining it. Hence, as an informed practitioner, I find </a:t>
            </a:r>
            <a:r>
              <a:rPr kumimoji="0" lang="en-GB" sz="2000" b="0" i="0" u="none" strike="noStrike" kern="100" cap="none" spc="0" normalizeH="0" baseline="0" noProof="0" dirty="0" err="1">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Lorcaserin</a:t>
            </a:r>
            <a:r>
              <a:rPr kumimoji="0" lang="en-GB" sz="2000" b="0" i="0" u="none" strike="noStrike" kern="100" cap="none" spc="0" normalizeH="0" baseline="0" noProof="0" dirty="0">
                <a:ln>
                  <a:noFill/>
                </a:ln>
                <a:effectLst/>
                <a:uLnTx/>
                <a:uFillTx/>
                <a:latin typeface="Times New Roman" panose="02020503050405090304" pitchFamily="18" charset="0"/>
                <a:ea typeface="Calibri" panose="020F0502020204030204" pitchFamily="34" charset="0"/>
                <a:cs typeface="Times New Roman" panose="02020503050405090304" pitchFamily="18" charset="0"/>
              </a:rPr>
              <a:t> a valid treatment strategy for Amy’s weight loss plan.</a:t>
            </a:r>
            <a:endParaRPr kumimoji="0" lang="x-none" sz="2000" b="0" i="0" u="none" strike="noStrike" kern="100" cap="none" spc="0" normalizeH="0" baseline="0" noProof="0">
              <a:ln>
                <a:noFill/>
              </a:ln>
              <a:effectLst/>
              <a:uLnTx/>
              <a:uFillTx/>
              <a:latin typeface="Times New Roman" panose="02020503050405090304" pitchFamily="18" charset="0"/>
              <a:ea typeface="Calibri" panose="020F0502020204030204" pitchFamily="34" charset="0"/>
              <a:cs typeface="Times New Roman" panose="0202050305040509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EEB5BF1-F1F2-94C1-1C3D-16CA7CF61899}"/>
              </a:ext>
            </a:extLst>
          </p:cNvPr>
          <p:cNvPicPr>
            <a:picLocks noChangeAspect="1"/>
          </p:cNvPicPr>
          <p:nvPr/>
        </p:nvPicPr>
        <p:blipFill rotWithShape="1">
          <a:blip r:embed="rId2">
            <a:duotone>
              <a:schemeClr val="bg2">
                <a:shade val="45000"/>
                <a:satMod val="135000"/>
              </a:schemeClr>
              <a:prstClr val="white"/>
            </a:duotone>
          </a:blip>
          <a:srcRect t="14205" b="1525"/>
          <a:stretch/>
        </p:blipFill>
        <p:spPr>
          <a:xfrm>
            <a:off x="20" y="10"/>
            <a:ext cx="12191980" cy="6857990"/>
          </a:xfrm>
          <a:prstGeom prst="rect">
            <a:avLst/>
          </a:prstGeom>
        </p:spPr>
      </p:pic>
      <p:sp>
        <p:nvSpPr>
          <p:cNvPr id="12" name="Rectangle 1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a:latin typeface="+mj-lt"/>
                <a:ea typeface="+mj-ea"/>
                <a:cs typeface="+mj-cs"/>
              </a:rPr>
              <a:t>Reference List (2 marks)</a:t>
            </a:r>
          </a:p>
        </p:txBody>
      </p:sp>
      <p:graphicFrame>
        <p:nvGraphicFramePr>
          <p:cNvPr id="7" name="Content Placeholder 2">
            <a:extLst>
              <a:ext uri="{FF2B5EF4-FFF2-40B4-BE49-F238E27FC236}">
                <a16:creationId xmlns:a16="http://schemas.microsoft.com/office/drawing/2014/main" id="{F15EB349-FC7E-92DA-2AE7-FF199AF5673D}"/>
              </a:ext>
            </a:extLst>
          </p:cNvPr>
          <p:cNvGraphicFramePr>
            <a:graphicFrameLocks noGrp="1"/>
          </p:cNvGraphicFramePr>
          <p:nvPr>
            <p:ph idx="1"/>
            <p:extLst>
              <p:ext uri="{D42A27DB-BD31-4B8C-83A1-F6EECF244321}">
                <p14:modId xmlns:p14="http://schemas.microsoft.com/office/powerpoint/2010/main" val="175506176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C6CB09-E1D9-365B-8707-ADD492D24EC2}"/>
              </a:ext>
            </a:extLst>
          </p:cNvPr>
          <p:cNvPicPr>
            <a:picLocks noChangeAspect="1"/>
          </p:cNvPicPr>
          <p:nvPr/>
        </p:nvPicPr>
        <p:blipFill rotWithShape="1">
          <a:blip r:embed="rId2"/>
          <a:srcRect t="7385" b="8346"/>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E1F48A28-B55A-C82C-9522-E4929EC37636}"/>
              </a:ext>
            </a:extLst>
          </p:cNvPr>
          <p:cNvGraphicFramePr>
            <a:graphicFrameLocks noGrp="1"/>
          </p:cNvGraphicFramePr>
          <p:nvPr>
            <p:ph idx="1"/>
            <p:extLst>
              <p:ext uri="{D42A27DB-BD31-4B8C-83A1-F6EECF244321}">
                <p14:modId xmlns:p14="http://schemas.microsoft.com/office/powerpoint/2010/main" val="351538842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15FEBE-E64A-736A-FCA0-8EE8CA6A2759}"/>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365125"/>
            <a:ext cx="10515600" cy="1325563"/>
          </a:xfrm>
        </p:spPr>
        <p:txBody>
          <a:bodyPr>
            <a:normAutofit/>
          </a:bodyPr>
          <a:lstStyle/>
          <a:p>
            <a:r>
              <a:rPr kumimoji="0" lang="en-US" b="1" i="0" u="none" strike="noStrike" kern="1200" cap="none" spc="0" normalizeH="0" baseline="0" noProof="0">
                <a:ln>
                  <a:noFill/>
                </a:ln>
                <a:effectLst/>
                <a:uLnTx/>
                <a:uFillTx/>
                <a:latin typeface="Times New Roman" panose="02020503050405090304" pitchFamily="18" charset="0"/>
                <a:cs typeface="Times New Roman" panose="02020503050405090304" pitchFamily="18" charset="0"/>
              </a:rPr>
              <a:t>Assessment Completion Process: B</a:t>
            </a:r>
            <a:endParaRPr lang="x-none"/>
          </a:p>
        </p:txBody>
      </p:sp>
      <p:graphicFrame>
        <p:nvGraphicFramePr>
          <p:cNvPr id="5" name="Content Placeholder 2">
            <a:extLst>
              <a:ext uri="{FF2B5EF4-FFF2-40B4-BE49-F238E27FC236}">
                <a16:creationId xmlns:a16="http://schemas.microsoft.com/office/drawing/2014/main" id="{86752656-5331-1564-B58F-EA74EA64E093}"/>
              </a:ext>
            </a:extLst>
          </p:cNvPr>
          <p:cNvGraphicFramePr>
            <a:graphicFrameLocks noGrp="1"/>
          </p:cNvGraphicFramePr>
          <p:nvPr>
            <p:ph idx="1"/>
            <p:extLst>
              <p:ext uri="{D42A27DB-BD31-4B8C-83A1-F6EECF244321}">
                <p14:modId xmlns:p14="http://schemas.microsoft.com/office/powerpoint/2010/main" val="227224244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blue and white background&#10;&#10;Description automatically generated">
            <a:extLst>
              <a:ext uri="{FF2B5EF4-FFF2-40B4-BE49-F238E27FC236}">
                <a16:creationId xmlns:a16="http://schemas.microsoft.com/office/drawing/2014/main" id="{A391623A-F41C-C05F-218A-A95FD2B25352}"/>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214D57B1-3F96-E3F2-3905-C86543FC6B09}"/>
              </a:ext>
            </a:extLst>
          </p:cNvPr>
          <p:cNvGraphicFramePr>
            <a:graphicFrameLocks noGrp="1"/>
          </p:cNvGraphicFramePr>
          <p:nvPr>
            <p:ph idx="1"/>
            <p:extLst>
              <p:ext uri="{D42A27DB-BD31-4B8C-83A1-F6EECF244321}">
                <p14:modId xmlns:p14="http://schemas.microsoft.com/office/powerpoint/2010/main" val="356666792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653E2EA-7646-4A6B-7409-EE5E749193F2}"/>
              </a:ext>
            </a:extLst>
          </p:cNvPr>
          <p:cNvSpPr>
            <a:spLocks noGrp="1"/>
          </p:cNvSpPr>
          <p:nvPr>
            <p:ph idx="1"/>
          </p:nvPr>
        </p:nvSpPr>
        <p:spPr>
          <a:xfrm>
            <a:off x="1881911" y="1485433"/>
            <a:ext cx="4977578" cy="3639289"/>
          </a:xfrm>
        </p:spPr>
        <p:txBody>
          <a:bodyPr anchor="ctr">
            <a:normAutofit/>
          </a:bodyPr>
          <a:lstStyle/>
          <a:p>
            <a:r>
              <a:rPr lang="en-US" altLang="zh-CN" sz="4000" dirty="0">
                <a:solidFill>
                  <a:schemeClr val="tx2"/>
                </a:solidFill>
              </a:rPr>
              <a:t>Thank</a:t>
            </a:r>
            <a:r>
              <a:rPr lang="zh-CN" altLang="en-US" sz="4000" dirty="0">
                <a:solidFill>
                  <a:schemeClr val="tx2"/>
                </a:solidFill>
              </a:rPr>
              <a:t> </a:t>
            </a:r>
            <a:r>
              <a:rPr lang="en-US" altLang="zh-CN" sz="4000" dirty="0">
                <a:solidFill>
                  <a:schemeClr val="tx2"/>
                </a:solidFill>
              </a:rPr>
              <a:t>you</a:t>
            </a:r>
            <a:endParaRPr lang="en-US" sz="4000" dirty="0">
              <a:solidFill>
                <a:schemeClr val="tx2"/>
              </a:solidFill>
            </a:endParaRP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Smiling Face with No Fill">
            <a:extLst>
              <a:ext uri="{FF2B5EF4-FFF2-40B4-BE49-F238E27FC236}">
                <a16:creationId xmlns:a16="http://schemas.microsoft.com/office/drawing/2014/main" id="{9998609D-6B27-7285-FF29-A0AF152A41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502651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3040</Words>
  <Application>Microsoft Macintosh PowerPoint</Application>
  <PresentationFormat>Widescreen</PresentationFormat>
  <Paragraphs>56</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Calibri</vt:lpstr>
      <vt:lpstr>Times New Roman</vt:lpstr>
      <vt:lpstr>Office Theme</vt:lpstr>
      <vt:lpstr>Assessment 1 Weight Loss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Assessment Completion Process: B</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Chuanhui Zheng</dc:creator>
  <cp:lastModifiedBy>Chuanhui Zheng</cp:lastModifiedBy>
  <cp:revision>5</cp:revision>
  <dcterms:created xsi:type="dcterms:W3CDTF">2024-06-30T16:13:16Z</dcterms:created>
  <dcterms:modified xsi:type="dcterms:W3CDTF">2024-06-30T17:01:22Z</dcterms:modified>
</cp:coreProperties>
</file>